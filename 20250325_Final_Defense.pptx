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8"/>
  </p:notesMasterIdLst>
  <p:sldIdLst>
    <p:sldId id="273" r:id="rId2"/>
    <p:sldId id="284" r:id="rId3"/>
    <p:sldId id="274" r:id="rId4"/>
    <p:sldId id="285" r:id="rId5"/>
    <p:sldId id="290" r:id="rId6"/>
    <p:sldId id="294" r:id="rId7"/>
    <p:sldId id="297" r:id="rId8"/>
    <p:sldId id="282" r:id="rId9"/>
    <p:sldId id="291" r:id="rId10"/>
    <p:sldId id="288" r:id="rId11"/>
    <p:sldId id="296" r:id="rId12"/>
    <p:sldId id="292" r:id="rId13"/>
    <p:sldId id="283" r:id="rId14"/>
    <p:sldId id="298" r:id="rId15"/>
    <p:sldId id="275" r:id="rId16"/>
    <p:sldId id="279" r:id="rId17"/>
  </p:sldIdLst>
  <p:sldSz cx="12192000" cy="6858000"/>
  <p:notesSz cx="6858000" cy="9144000"/>
  <p:embeddedFontLst>
    <p:embeddedFont>
      <p:font typeface="等线" panose="02010600030101010101" pitchFamily="2" charset="-122"/>
      <p:regular r:id="rId19"/>
      <p:bold r:id="rId20"/>
    </p:embeddedFont>
    <p:embeddedFont>
      <p:font typeface="微软雅黑" panose="020B0503020204020204" pitchFamily="34" charset="-122"/>
      <p:regular r:id="rId21"/>
      <p:bold r:id="rId2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4" autoAdjust="0"/>
    <p:restoredTop sz="94660"/>
  </p:normalViewPr>
  <p:slideViewPr>
    <p:cSldViewPr snapToGrid="0">
      <p:cViewPr>
        <p:scale>
          <a:sx n="50" d="100"/>
          <a:sy n="50" d="100"/>
        </p:scale>
        <p:origin x="1290" y="15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C8C0B-E7A1-4E81-AB6F-6479A52F298B}" type="datetimeFigureOut">
              <a:rPr lang="zh-CN" altLang="en-US" smtClean="0"/>
              <a:t>2025/3/21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0A7FEF-E4FC-4DC9-B4DC-A4589F3A6D20}" type="slidenum">
              <a:rPr lang="zh-CN" altLang="en-US" smtClean="0"/>
              <a:t>‹#›</a:t>
            </a:fld>
            <a:endParaRPr lang="zh-CN" altLang="en-US"/>
          </a:p>
        </p:txBody>
      </p:sp>
    </p:spTree>
    <p:extLst>
      <p:ext uri="{BB962C8B-B14F-4D97-AF65-F5344CB8AC3E}">
        <p14:creationId xmlns:p14="http://schemas.microsoft.com/office/powerpoint/2010/main" val="769724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6" name="图片 15"/>
          <p:cNvPicPr>
            <a:picLocks noChangeAspect="1"/>
          </p:cNvPicPr>
          <p:nvPr userDrawn="1"/>
        </p:nvPicPr>
        <p:blipFill rotWithShape="1">
          <a:blip r:embed="rId2"/>
          <a:srcRect l="14939" t="-331" r="309" b="27609"/>
          <a:stretch>
            <a:fillRect/>
          </a:stretch>
        </p:blipFill>
        <p:spPr>
          <a:xfrm>
            <a:off x="0" y="4925961"/>
            <a:ext cx="2251587" cy="1932039"/>
          </a:xfrm>
          <a:prstGeom prst="rect">
            <a:avLst/>
          </a:prstGeom>
        </p:spPr>
      </p:pic>
      <p:sp>
        <p:nvSpPr>
          <p:cNvPr id="2" name="标题 1"/>
          <p:cNvSpPr>
            <a:spLocks noGrp="1"/>
          </p:cNvSpPr>
          <p:nvPr>
            <p:ph type="ctrTitle" hasCustomPrompt="1"/>
          </p:nvPr>
        </p:nvSpPr>
        <p:spPr>
          <a:xfrm>
            <a:off x="2387598" y="2130199"/>
            <a:ext cx="6105427" cy="1130146"/>
          </a:xfrm>
        </p:spPr>
        <p:txBody>
          <a:bodyPr anchor="b">
            <a:normAutofit/>
          </a:bodyPr>
          <a:lstStyle>
            <a:lvl1pPr algn="l">
              <a:defRPr sz="3600"/>
            </a:lvl1pPr>
          </a:lstStyle>
          <a:p>
            <a:r>
              <a:rPr lang="zh-CN" altLang="en-US" dirty="0"/>
              <a:t>单击此处</a:t>
            </a:r>
            <a:br>
              <a:rPr lang="en-US" altLang="zh-CN" dirty="0"/>
            </a:br>
            <a:r>
              <a:rPr lang="zh-CN" altLang="en-US" dirty="0"/>
              <a:t>编辑母版标题样式</a:t>
            </a:r>
          </a:p>
        </p:txBody>
      </p:sp>
      <p:sp>
        <p:nvSpPr>
          <p:cNvPr id="3" name="副标题 2"/>
          <p:cNvSpPr>
            <a:spLocks noGrp="1"/>
          </p:cNvSpPr>
          <p:nvPr>
            <p:ph type="subTitle" idx="1" hasCustomPrompt="1"/>
          </p:nvPr>
        </p:nvSpPr>
        <p:spPr>
          <a:xfrm>
            <a:off x="2387599" y="3978670"/>
            <a:ext cx="2768863" cy="281576"/>
          </a:xfrm>
        </p:spPr>
        <p:txBody>
          <a:bodyPr>
            <a:normAutofit/>
          </a:bodyPr>
          <a:lstStyle>
            <a:lvl1pPr marL="0" indent="0" algn="l">
              <a:buNone/>
              <a:defRPr sz="15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单击此处编辑姓名</a:t>
            </a:r>
            <a:endParaRPr lang="en-US" altLang="zh-CN" dirty="0"/>
          </a:p>
          <a:p>
            <a:endParaRPr lang="zh-CN" altLang="en-US" dirty="0"/>
          </a:p>
        </p:txBody>
      </p:sp>
      <p:sp>
        <p:nvSpPr>
          <p:cNvPr id="9" name="任意多边形 25"/>
          <p:cNvSpPr/>
          <p:nvPr userDrawn="1"/>
        </p:nvSpPr>
        <p:spPr>
          <a:xfrm rot="10800000">
            <a:off x="3270515" y="1130300"/>
            <a:ext cx="8249973" cy="4597081"/>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139756 h 4508626"/>
              <a:gd name="connsiteX3-7" fmla="*/ 6762786 w 6826313"/>
              <a:gd name="connsiteY3-8" fmla="*/ 2363957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01324 h 4508626"/>
              <a:gd name="connsiteX3-39" fmla="*/ 6762786 w 6826313"/>
              <a:gd name="connsiteY3-40" fmla="*/ 2363957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01324 h 4508626"/>
              <a:gd name="connsiteX3-75" fmla="*/ 6762786 w 6826313"/>
              <a:gd name="connsiteY3-76" fmla="*/ 2363957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544311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01324 h 4508626"/>
              <a:gd name="connsiteX3-111" fmla="*/ 6762786 w 6826313"/>
              <a:gd name="connsiteY3-112" fmla="*/ 2363957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544311 h 4508626"/>
              <a:gd name="connsiteX14-133" fmla="*/ 6821059 w 6826313"/>
              <a:gd name="connsiteY14-134" fmla="*/ 3600361 h 4508626"/>
              <a:gd name="connsiteX15-135" fmla="*/ 6826313 w 6826313"/>
              <a:gd name="connsiteY15-136" fmla="*/ 4508626 h 4508626"/>
              <a:gd name="connsiteX16-137" fmla="*/ 0 w 6826313"/>
              <a:gd name="connsiteY16-138" fmla="*/ 4508626 h 4508626"/>
              <a:gd name="connsiteX17-139" fmla="*/ 0 w 6826313"/>
              <a:gd name="connsiteY17-140"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26313" h="4508626">
                <a:moveTo>
                  <a:pt x="6762786" y="1876457"/>
                </a:moveTo>
                <a:lnTo>
                  <a:pt x="6826313" y="1876457"/>
                </a:lnTo>
                <a:lnTo>
                  <a:pt x="6826313" y="2401324"/>
                </a:lnTo>
                <a:cubicBezTo>
                  <a:pt x="6805137" y="2401324"/>
                  <a:pt x="6783962" y="2363957"/>
                  <a:pt x="6762786" y="2363957"/>
                </a:cubicBez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544311"/>
                </a:lnTo>
                <a:lnTo>
                  <a:pt x="6821059" y="3600361"/>
                </a:lnTo>
                <a:cubicBezTo>
                  <a:pt x="6822810" y="3903116"/>
                  <a:pt x="6824562" y="4205871"/>
                  <a:pt x="6826313" y="4508626"/>
                </a:cubicBezTo>
                <a:lnTo>
                  <a:pt x="0" y="4508626"/>
                </a:lnTo>
                <a:lnTo>
                  <a:pt x="0"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日期占位符 3"/>
          <p:cNvSpPr>
            <a:spLocks noGrp="1"/>
          </p:cNvSpPr>
          <p:nvPr>
            <p:ph type="dt" sz="half" idx="2"/>
          </p:nvPr>
        </p:nvSpPr>
        <p:spPr>
          <a:xfrm>
            <a:off x="658813" y="626314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15" name="文本占位符 14"/>
          <p:cNvSpPr>
            <a:spLocks noGrp="1"/>
          </p:cNvSpPr>
          <p:nvPr>
            <p:ph type="body" sz="quarter" idx="10" hasCustomPrompt="1"/>
          </p:nvPr>
        </p:nvSpPr>
        <p:spPr>
          <a:xfrm>
            <a:off x="2389559" y="4369292"/>
            <a:ext cx="2766903" cy="317669"/>
          </a:xfrm>
        </p:spPr>
        <p:txBody>
          <a:bodyPr/>
          <a:lstStyle>
            <a:lvl1pPr marL="0" indent="0">
              <a:buNone/>
              <a:defRPr sz="1500" b="0"/>
            </a:lvl1pPr>
          </a:lstStyle>
          <a:p>
            <a:pPr lvl="0"/>
            <a:r>
              <a:rPr lang="zh-CN" altLang="en-US" dirty="0"/>
              <a:t>单击此处编辑单位或日期</a:t>
            </a:r>
          </a:p>
        </p:txBody>
      </p:sp>
    </p:spTree>
    <p:extLst>
      <p:ext uri="{BB962C8B-B14F-4D97-AF65-F5344CB8AC3E}">
        <p14:creationId xmlns:p14="http://schemas.microsoft.com/office/powerpoint/2010/main" val="3637909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录板式">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Tree>
    <p:extLst>
      <p:ext uri="{BB962C8B-B14F-4D97-AF65-F5344CB8AC3E}">
        <p14:creationId xmlns:p14="http://schemas.microsoft.com/office/powerpoint/2010/main" val="3166374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
        <p:nvSpPr>
          <p:cNvPr id="2" name="标题 1"/>
          <p:cNvSpPr>
            <a:spLocks noGrp="1"/>
          </p:cNvSpPr>
          <p:nvPr>
            <p:ph type="title"/>
          </p:nvPr>
        </p:nvSpPr>
        <p:spPr>
          <a:xfrm>
            <a:off x="6096000" y="2891770"/>
            <a:ext cx="4588562" cy="537230"/>
          </a:xfrm>
        </p:spPr>
        <p:txBody>
          <a:bodyPr anchor="b">
            <a:normAutofit/>
          </a:bodyPr>
          <a:lstStyle>
            <a:lvl1pPr>
              <a:defRPr sz="2800"/>
            </a:lvl1pPr>
          </a:lstStyle>
          <a:p>
            <a:r>
              <a:rPr lang="zh-CN" altLang="en-US" dirty="0"/>
              <a:t>单击此处编辑母版标题样式</a:t>
            </a:r>
          </a:p>
        </p:txBody>
      </p:sp>
      <p:sp>
        <p:nvSpPr>
          <p:cNvPr id="3" name="文本占位符 2"/>
          <p:cNvSpPr>
            <a:spLocks noGrp="1"/>
          </p:cNvSpPr>
          <p:nvPr>
            <p:ph type="body" idx="1"/>
          </p:nvPr>
        </p:nvSpPr>
        <p:spPr>
          <a:xfrm>
            <a:off x="6096000" y="3618502"/>
            <a:ext cx="4588562" cy="1019485"/>
          </a:xfrm>
        </p:spPr>
        <p:txBody>
          <a:bodyPr>
            <a:normAutofit/>
          </a:bodyPr>
          <a:lstStyle>
            <a:lvl1pPr marL="0" indent="0">
              <a:buNone/>
              <a:defRPr sz="1400" b="0">
                <a:solidFill>
                  <a:schemeClr val="tx1">
                    <a:tint val="75000"/>
                  </a:schemeClr>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1518109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11028320" y="4809503"/>
            <a:ext cx="1163680" cy="2048497"/>
          </a:xfrm>
          <a:prstGeom prst="rect">
            <a:avLst/>
          </a:prstGeom>
        </p:spPr>
      </p:pic>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标题 9"/>
          <p:cNvSpPr>
            <a:spLocks noGrp="1"/>
          </p:cNvSpPr>
          <p:nvPr>
            <p:ph type="title"/>
          </p:nvPr>
        </p:nvSpPr>
        <p:spPr/>
        <p:txBody>
          <a:bodyPr/>
          <a:lstStyle/>
          <a:p>
            <a:r>
              <a:rPr lang="zh-CN" altLang="en-US"/>
              <a:t>单击此处编辑母版标题样式</a:t>
            </a:r>
          </a:p>
        </p:txBody>
      </p:sp>
      <p:sp>
        <p:nvSpPr>
          <p:cNvPr id="14" name="日期占位符 13"/>
          <p:cNvSpPr>
            <a:spLocks noGrp="1"/>
          </p:cNvSpPr>
          <p:nvPr>
            <p:ph type="dt" sz="half" idx="10"/>
          </p:nvPr>
        </p:nvSpPr>
        <p:spPr/>
        <p:txBody>
          <a:bodyPr/>
          <a:lstStyle/>
          <a:p>
            <a:endParaRPr lang="zh-CN" altLang="en-US" dirty="0"/>
          </a:p>
        </p:txBody>
      </p:sp>
      <p:sp>
        <p:nvSpPr>
          <p:cNvPr id="15" name="页脚占位符 14"/>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17B61D2E-5690-4C9D-A84F-76BBD1AD9F3C}" type="slidenum">
              <a:rPr lang="zh-CN" altLang="en-US" smtClean="0"/>
              <a:t>‹#›</a:t>
            </a:fld>
            <a:endParaRPr lang="zh-CN" altLang="en-US"/>
          </a:p>
        </p:txBody>
      </p:sp>
    </p:spTree>
    <p:extLst>
      <p:ext uri="{BB962C8B-B14F-4D97-AF65-F5344CB8AC3E}">
        <p14:creationId xmlns:p14="http://schemas.microsoft.com/office/powerpoint/2010/main" val="41722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srcRect r="43193"/>
          <a:stretch>
            <a:fillRect/>
          </a:stretch>
        </p:blipFill>
        <p:spPr>
          <a:xfrm>
            <a:off x="11028320" y="4809503"/>
            <a:ext cx="1163680" cy="2048497"/>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5" name="灯片编号占位符 4"/>
          <p:cNvSpPr>
            <a:spLocks noGrp="1"/>
          </p:cNvSpPr>
          <p:nvPr>
            <p:ph type="sldNum" sz="quarter" idx="12"/>
          </p:nvPr>
        </p:nvSpPr>
        <p:spPr/>
        <p:txBody>
          <a:bodyPr/>
          <a:lstStyle/>
          <a:p>
            <a:fld id="{17B61D2E-5690-4C9D-A84F-76BBD1AD9F3C}" type="slidenum">
              <a:rPr lang="zh-CN" altLang="en-US" smtClean="0"/>
              <a:t>‹#›</a:t>
            </a:fld>
            <a:endParaRPr lang="zh-CN" altLang="en-US"/>
          </a:p>
        </p:txBody>
      </p:sp>
    </p:spTree>
    <p:extLst>
      <p:ext uri="{BB962C8B-B14F-4D97-AF65-F5344CB8AC3E}">
        <p14:creationId xmlns:p14="http://schemas.microsoft.com/office/powerpoint/2010/main" val="2039799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Tree>
    <p:extLst>
      <p:ext uri="{BB962C8B-B14F-4D97-AF65-F5344CB8AC3E}">
        <p14:creationId xmlns:p14="http://schemas.microsoft.com/office/powerpoint/2010/main" val="1553959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结尾幻灯片">
    <p:spTree>
      <p:nvGrpSpPr>
        <p:cNvPr id="1" name=""/>
        <p:cNvGrpSpPr/>
        <p:nvPr/>
      </p:nvGrpSpPr>
      <p:grpSpPr>
        <a:xfrm>
          <a:off x="0" y="0"/>
          <a:ext cx="0" cy="0"/>
          <a:chOff x="0" y="0"/>
          <a:chExt cx="0" cy="0"/>
        </a:xfrm>
      </p:grpSpPr>
      <p:grpSp>
        <p:nvGrpSpPr>
          <p:cNvPr id="11" name="组合 10"/>
          <p:cNvGrpSpPr/>
          <p:nvPr userDrawn="1"/>
        </p:nvGrpSpPr>
        <p:grpSpPr>
          <a:xfrm rot="19976833">
            <a:off x="677043" y="138257"/>
            <a:ext cx="6581166" cy="6581166"/>
            <a:chOff x="1337912" y="7055318"/>
            <a:chExt cx="4273616" cy="4273616"/>
          </a:xfrm>
        </p:grpSpPr>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3021" t="2701" r="2778" b="2973"/>
            <a:stretch>
              <a:fillRect/>
            </a:stretch>
          </p:blipFill>
          <p:spPr>
            <a:xfrm>
              <a:off x="1337912" y="7064942"/>
              <a:ext cx="4273616" cy="4254367"/>
            </a:xfrm>
            <a:prstGeom prst="ellipse">
              <a:avLst/>
            </a:prstGeom>
          </p:spPr>
        </p:pic>
        <p:sp>
          <p:nvSpPr>
            <p:cNvPr id="13" name="椭圆 12"/>
            <p:cNvSpPr/>
            <p:nvPr userDrawn="1"/>
          </p:nvSpPr>
          <p:spPr>
            <a:xfrm>
              <a:off x="1337912" y="7055317"/>
              <a:ext cx="4273616" cy="4273616"/>
            </a:xfrm>
            <a:prstGeom prst="ellipse">
              <a:avLst/>
            </a:prstGeom>
            <a:solidFill>
              <a:schemeClr val="bg1">
                <a:alpha val="9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ctrTitle" hasCustomPrompt="1"/>
          </p:nvPr>
        </p:nvSpPr>
        <p:spPr>
          <a:xfrm>
            <a:off x="2387598" y="2391494"/>
            <a:ext cx="5134992" cy="719861"/>
          </a:xfrm>
        </p:spPr>
        <p:txBody>
          <a:bodyPr anchor="b">
            <a:normAutofit/>
          </a:bodyPr>
          <a:lstStyle>
            <a:lvl1pPr algn="l">
              <a:defRPr sz="3600"/>
            </a:lvl1pPr>
          </a:lstStyle>
          <a:p>
            <a:r>
              <a:rPr lang="zh-CN" altLang="en-US" dirty="0"/>
              <a:t>恳请指正</a:t>
            </a:r>
          </a:p>
        </p:txBody>
      </p:sp>
      <p:sp>
        <p:nvSpPr>
          <p:cNvPr id="9" name="任意多边形 25"/>
          <p:cNvSpPr/>
          <p:nvPr userDrawn="1"/>
        </p:nvSpPr>
        <p:spPr>
          <a:xfrm rot="10800000">
            <a:off x="3262047" y="1130300"/>
            <a:ext cx="8258441" cy="4597081"/>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476058 h 4508626"/>
              <a:gd name="connsiteX3-7" fmla="*/ 6762786 w 6826313"/>
              <a:gd name="connsiteY3-8" fmla="*/ 2139756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76058 h 4508626"/>
              <a:gd name="connsiteX3-39" fmla="*/ 6762786 w 6826313"/>
              <a:gd name="connsiteY3-40" fmla="*/ 2455298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76058 h 4508626"/>
              <a:gd name="connsiteX3-75" fmla="*/ 6762786 w 6826313"/>
              <a:gd name="connsiteY3-76" fmla="*/ 2476058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756057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76058 h 4508626"/>
              <a:gd name="connsiteX3-111" fmla="*/ 6762786 w 6826313"/>
              <a:gd name="connsiteY3-112" fmla="*/ 2476058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403147 h 4508626"/>
              <a:gd name="connsiteX14-133" fmla="*/ 6826313 w 6826313"/>
              <a:gd name="connsiteY14-134" fmla="*/ 3756057 h 4508626"/>
              <a:gd name="connsiteX15-135" fmla="*/ 6826313 w 6826313"/>
              <a:gd name="connsiteY15-136" fmla="*/ 4508626 h 4508626"/>
              <a:gd name="connsiteX16-137" fmla="*/ 0 w 6826313"/>
              <a:gd name="connsiteY16-138" fmla="*/ 4508626 h 4508626"/>
              <a:gd name="connsiteX17-139" fmla="*/ 0 w 6826313"/>
              <a:gd name="connsiteY17-140" fmla="*/ 0 h 4508626"/>
              <a:gd name="connsiteX0-141" fmla="*/ 6762786 w 6829816"/>
              <a:gd name="connsiteY0-142" fmla="*/ 1876457 h 4508626"/>
              <a:gd name="connsiteX1-143" fmla="*/ 6826313 w 6829816"/>
              <a:gd name="connsiteY1-144" fmla="*/ 1876457 h 4508626"/>
              <a:gd name="connsiteX2-145" fmla="*/ 6826313 w 6829816"/>
              <a:gd name="connsiteY2-146" fmla="*/ 2476058 h 4508626"/>
              <a:gd name="connsiteX3-147" fmla="*/ 6762786 w 6829816"/>
              <a:gd name="connsiteY3-148" fmla="*/ 2476058 h 4508626"/>
              <a:gd name="connsiteX4-149" fmla="*/ 6762786 w 6829816"/>
              <a:gd name="connsiteY4-150" fmla="*/ 1876457 h 4508626"/>
              <a:gd name="connsiteX5-151" fmla="*/ 0 w 6829816"/>
              <a:gd name="connsiteY5-152" fmla="*/ 0 h 4508626"/>
              <a:gd name="connsiteX6-153" fmla="*/ 6826313 w 6829816"/>
              <a:gd name="connsiteY6-154" fmla="*/ 0 h 4508626"/>
              <a:gd name="connsiteX7-155" fmla="*/ 6826313 w 6829816"/>
              <a:gd name="connsiteY7-156" fmla="*/ 959382 h 4508626"/>
              <a:gd name="connsiteX8-157" fmla="*/ 6762786 w 6829816"/>
              <a:gd name="connsiteY8-158" fmla="*/ 959382 h 4508626"/>
              <a:gd name="connsiteX9-159" fmla="*/ 6762786 w 6829816"/>
              <a:gd name="connsiteY9-160" fmla="*/ 63527 h 4508626"/>
              <a:gd name="connsiteX10-161" fmla="*/ 63527 w 6829816"/>
              <a:gd name="connsiteY10-162" fmla="*/ 63527 h 4508626"/>
              <a:gd name="connsiteX11-163" fmla="*/ 63527 w 6829816"/>
              <a:gd name="connsiteY11-164" fmla="*/ 4445099 h 4508626"/>
              <a:gd name="connsiteX12-165" fmla="*/ 6762786 w 6829816"/>
              <a:gd name="connsiteY12-166" fmla="*/ 4445099 h 4508626"/>
              <a:gd name="connsiteX13-167" fmla="*/ 6762786 w 6829816"/>
              <a:gd name="connsiteY13-168" fmla="*/ 3403147 h 4508626"/>
              <a:gd name="connsiteX14-169" fmla="*/ 6829816 w 6829816"/>
              <a:gd name="connsiteY14-170" fmla="*/ 3415603 h 4508626"/>
              <a:gd name="connsiteX15-171" fmla="*/ 6826313 w 6829816"/>
              <a:gd name="connsiteY15-172" fmla="*/ 4508626 h 4508626"/>
              <a:gd name="connsiteX16-173" fmla="*/ 0 w 6829816"/>
              <a:gd name="connsiteY16-174" fmla="*/ 4508626 h 4508626"/>
              <a:gd name="connsiteX17-175" fmla="*/ 0 w 6829816"/>
              <a:gd name="connsiteY17-176" fmla="*/ 0 h 4508626"/>
              <a:gd name="connsiteX0-177" fmla="*/ 6762786 w 6833319"/>
              <a:gd name="connsiteY0-178" fmla="*/ 1876457 h 4508626"/>
              <a:gd name="connsiteX1-179" fmla="*/ 6826313 w 6833319"/>
              <a:gd name="connsiteY1-180" fmla="*/ 1876457 h 4508626"/>
              <a:gd name="connsiteX2-181" fmla="*/ 6826313 w 6833319"/>
              <a:gd name="connsiteY2-182" fmla="*/ 2476058 h 4508626"/>
              <a:gd name="connsiteX3-183" fmla="*/ 6762786 w 6833319"/>
              <a:gd name="connsiteY3-184" fmla="*/ 2476058 h 4508626"/>
              <a:gd name="connsiteX4-185" fmla="*/ 6762786 w 6833319"/>
              <a:gd name="connsiteY4-186" fmla="*/ 1876457 h 4508626"/>
              <a:gd name="connsiteX5-187" fmla="*/ 0 w 6833319"/>
              <a:gd name="connsiteY5-188" fmla="*/ 0 h 4508626"/>
              <a:gd name="connsiteX6-189" fmla="*/ 6826313 w 6833319"/>
              <a:gd name="connsiteY6-190" fmla="*/ 0 h 4508626"/>
              <a:gd name="connsiteX7-191" fmla="*/ 6826313 w 6833319"/>
              <a:gd name="connsiteY7-192" fmla="*/ 959382 h 4508626"/>
              <a:gd name="connsiteX8-193" fmla="*/ 6762786 w 6833319"/>
              <a:gd name="connsiteY8-194" fmla="*/ 959382 h 4508626"/>
              <a:gd name="connsiteX9-195" fmla="*/ 6762786 w 6833319"/>
              <a:gd name="connsiteY9-196" fmla="*/ 63527 h 4508626"/>
              <a:gd name="connsiteX10-197" fmla="*/ 63527 w 6833319"/>
              <a:gd name="connsiteY10-198" fmla="*/ 63527 h 4508626"/>
              <a:gd name="connsiteX11-199" fmla="*/ 63527 w 6833319"/>
              <a:gd name="connsiteY11-200" fmla="*/ 4445099 h 4508626"/>
              <a:gd name="connsiteX12-201" fmla="*/ 6762786 w 6833319"/>
              <a:gd name="connsiteY12-202" fmla="*/ 4445099 h 4508626"/>
              <a:gd name="connsiteX13-203" fmla="*/ 6762786 w 6833319"/>
              <a:gd name="connsiteY13-204" fmla="*/ 3403147 h 4508626"/>
              <a:gd name="connsiteX14-205" fmla="*/ 6833319 w 6833319"/>
              <a:gd name="connsiteY14-206" fmla="*/ 3394844 h 4508626"/>
              <a:gd name="connsiteX15-207" fmla="*/ 6826313 w 6833319"/>
              <a:gd name="connsiteY15-208" fmla="*/ 4508626 h 4508626"/>
              <a:gd name="connsiteX16-209" fmla="*/ 0 w 6833319"/>
              <a:gd name="connsiteY16-210" fmla="*/ 4508626 h 4508626"/>
              <a:gd name="connsiteX17-211" fmla="*/ 0 w 6833319"/>
              <a:gd name="connsiteY17-212"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33319" h="4508626">
                <a:moveTo>
                  <a:pt x="6762786" y="1876457"/>
                </a:moveTo>
                <a:lnTo>
                  <a:pt x="6826313" y="1876457"/>
                </a:lnTo>
                <a:lnTo>
                  <a:pt x="6826313" y="2476058"/>
                </a:lnTo>
                <a:lnTo>
                  <a:pt x="6762786" y="2476058"/>
                </a:ln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403147"/>
                </a:lnTo>
                <a:lnTo>
                  <a:pt x="6833319" y="3394844"/>
                </a:lnTo>
                <a:cubicBezTo>
                  <a:pt x="6832151" y="3759185"/>
                  <a:pt x="6827481" y="4144285"/>
                  <a:pt x="6826313" y="4508626"/>
                </a:cubicBezTo>
                <a:lnTo>
                  <a:pt x="0" y="4508626"/>
                </a:lnTo>
                <a:lnTo>
                  <a:pt x="0" y="0"/>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 name="日期占位符 3"/>
          <p:cNvSpPr>
            <a:spLocks noGrp="1"/>
          </p:cNvSpPr>
          <p:nvPr>
            <p:ph type="dt" sz="half" idx="2"/>
          </p:nvPr>
        </p:nvSpPr>
        <p:spPr>
          <a:xfrm>
            <a:off x="658813" y="624637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14" name="副标题 2"/>
          <p:cNvSpPr>
            <a:spLocks noGrp="1"/>
          </p:cNvSpPr>
          <p:nvPr>
            <p:ph type="subTitle" idx="1" hasCustomPrompt="1"/>
          </p:nvPr>
        </p:nvSpPr>
        <p:spPr>
          <a:xfrm>
            <a:off x="2387599" y="3978669"/>
            <a:ext cx="2768863" cy="310527"/>
          </a:xfrm>
        </p:spPr>
        <p:txBody>
          <a:bodyPr>
            <a:normAutofit/>
          </a:bodyPr>
          <a:lstStyle>
            <a:lvl1pPr marL="0" indent="0" algn="l">
              <a:buNone/>
              <a:defRPr sz="15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单击此处编辑姓名</a:t>
            </a:r>
          </a:p>
        </p:txBody>
      </p:sp>
      <p:sp>
        <p:nvSpPr>
          <p:cNvPr id="16" name="文本占位符 14"/>
          <p:cNvSpPr>
            <a:spLocks noGrp="1"/>
          </p:cNvSpPr>
          <p:nvPr>
            <p:ph type="body" sz="quarter" idx="10" hasCustomPrompt="1"/>
          </p:nvPr>
        </p:nvSpPr>
        <p:spPr>
          <a:xfrm>
            <a:off x="2389559" y="4369292"/>
            <a:ext cx="2766903" cy="317669"/>
          </a:xfrm>
        </p:spPr>
        <p:txBody>
          <a:bodyPr/>
          <a:lstStyle>
            <a:lvl1pPr marL="0" indent="0">
              <a:buNone/>
              <a:defRPr sz="1500" b="0"/>
            </a:lvl1pPr>
          </a:lstStyle>
          <a:p>
            <a:pPr lvl="0"/>
            <a:r>
              <a:rPr lang="zh-CN" altLang="en-US" dirty="0"/>
              <a:t>单击此处编辑单位或日期</a:t>
            </a:r>
          </a:p>
        </p:txBody>
      </p:sp>
    </p:spTree>
    <p:extLst>
      <p:ext uri="{BB962C8B-B14F-4D97-AF65-F5344CB8AC3E}">
        <p14:creationId xmlns:p14="http://schemas.microsoft.com/office/powerpoint/2010/main" val="2400790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58812" y="365126"/>
            <a:ext cx="10874375" cy="687388"/>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58812" y="1129287"/>
            <a:ext cx="10874375" cy="50403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658813" y="624637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5" name="页脚占位符 4"/>
          <p:cNvSpPr>
            <a:spLocks noGrp="1"/>
          </p:cNvSpPr>
          <p:nvPr>
            <p:ph type="ftr" sz="quarter" idx="3"/>
          </p:nvPr>
        </p:nvSpPr>
        <p:spPr>
          <a:xfrm>
            <a:off x="4038600" y="6238876"/>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599" y="6238876"/>
            <a:ext cx="2922587" cy="372621"/>
          </a:xfrm>
          <a:prstGeom prst="rect">
            <a:avLst/>
          </a:prstGeom>
        </p:spPr>
        <p:txBody>
          <a:bodyPr vert="horz" lIns="91440" tIns="45720" rIns="91440" bIns="45720" rtlCol="0" anchor="ctr"/>
          <a:lstStyle>
            <a:lvl1pPr algn="r">
              <a:defRPr sz="1200">
                <a:solidFill>
                  <a:schemeClr val="tx1">
                    <a:tint val="75000"/>
                  </a:schemeClr>
                </a:solidFill>
              </a:defRPr>
            </a:lvl1pPr>
          </a:lstStyle>
          <a:p>
            <a:fld id="{17B61D2E-5690-4C9D-A84F-76BBD1AD9F3C}" type="slidenum">
              <a:rPr lang="zh-CN" altLang="en-US" smtClean="0"/>
              <a:t>‹#›</a:t>
            </a:fld>
            <a:endParaRPr lang="zh-CN" altLang="en-US"/>
          </a:p>
        </p:txBody>
      </p:sp>
      <p:cxnSp>
        <p:nvCxnSpPr>
          <p:cNvPr id="8" name="直接连接符 7"/>
          <p:cNvCxnSpPr/>
          <p:nvPr userDrawn="1"/>
        </p:nvCxnSpPr>
        <p:spPr>
          <a:xfrm flipV="1">
            <a:off x="658813" y="1052514"/>
            <a:ext cx="10874375" cy="1"/>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215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ags" Target="../tags/tag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5.xml"/><Relationship Id="rId1" Type="http://schemas.openxmlformats.org/officeDocument/2006/relationships/tags" Target="../tags/tag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5.xml"/><Relationship Id="rId7" Type="http://schemas.openxmlformats.org/officeDocument/2006/relationships/image" Target="../media/image14.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73284" y="2059707"/>
            <a:ext cx="9195952" cy="1204637"/>
          </a:xfrm>
        </p:spPr>
        <p:txBody>
          <a:bodyPr>
            <a:noAutofit/>
          </a:bodyPr>
          <a:lstStyle/>
          <a:p>
            <a:pPr algn="ctr">
              <a:lnSpc>
                <a:spcPct val="150000"/>
              </a:lnSpc>
            </a:pPr>
            <a:r>
              <a:rPr lang="zh-CN" altLang="en-US" b="1" dirty="0">
                <a:effectLst/>
                <a:latin typeface="+mj-lt"/>
                <a:ea typeface="微软雅黑" panose="020B0503020204020204" pitchFamily="34" charset="-122"/>
              </a:rPr>
              <a:t>三维图像传感器信号增强网络的轻量化方法</a:t>
            </a:r>
            <a:br>
              <a:rPr lang="en-US" altLang="zh-CN" sz="2000" b="1" dirty="0">
                <a:effectLst/>
                <a:latin typeface="+mj-lt"/>
                <a:ea typeface="微软雅黑" panose="020B0503020204020204" pitchFamily="34" charset="-122"/>
              </a:rPr>
            </a:br>
            <a:r>
              <a:rPr lang="en-US" altLang="zh-CN" sz="2000" b="1" dirty="0">
                <a:effectLst/>
                <a:latin typeface="+mj-lt"/>
                <a:ea typeface="微软雅黑" panose="020B0503020204020204" pitchFamily="34" charset="-122"/>
              </a:rPr>
              <a:t>Lightweight Network for 3D Image Sensor Signal Enhancement</a:t>
            </a:r>
          </a:p>
        </p:txBody>
      </p:sp>
      <p:sp>
        <p:nvSpPr>
          <p:cNvPr id="4" name="标题 1">
            <a:extLst>
              <a:ext uri="{FF2B5EF4-FFF2-40B4-BE49-F238E27FC236}">
                <a16:creationId xmlns:a16="http://schemas.microsoft.com/office/drawing/2014/main" id="{DB80170B-635B-79B8-6B08-145F5391354C}"/>
              </a:ext>
            </a:extLst>
          </p:cNvPr>
          <p:cNvSpPr txBox="1">
            <a:spLocks/>
          </p:cNvSpPr>
          <p:nvPr/>
        </p:nvSpPr>
        <p:spPr>
          <a:xfrm>
            <a:off x="3219289" y="3914775"/>
            <a:ext cx="4917100" cy="7246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项目成员：林继申、刘垚、刘淑仪、梁斯凯、杨宇琨</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指导教师：曾进</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
        <p:nvSpPr>
          <p:cNvPr id="7" name="标题 1">
            <a:extLst>
              <a:ext uri="{FF2B5EF4-FFF2-40B4-BE49-F238E27FC236}">
                <a16:creationId xmlns:a16="http://schemas.microsoft.com/office/drawing/2014/main" id="{E5A4B498-0E92-2F56-6357-4353DEB0E74C}"/>
              </a:ext>
            </a:extLst>
          </p:cNvPr>
          <p:cNvSpPr txBox="1">
            <a:spLocks/>
          </p:cNvSpPr>
          <p:nvPr/>
        </p:nvSpPr>
        <p:spPr>
          <a:xfrm>
            <a:off x="8409905" y="5825407"/>
            <a:ext cx="3153446" cy="7631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同济大学</a:t>
            </a:r>
            <a:r>
              <a:rPr lang="zh-CN" altLang="en-US" sz="1600" dirty="0">
                <a:solidFill>
                  <a:prstClr val="black"/>
                </a:solidFill>
                <a:latin typeface="微软雅黑"/>
                <a:ea typeface="微软雅黑" panose="020B0503020204020204" pitchFamily="34" charset="-122"/>
              </a:rPr>
              <a:t>计算机科学与技术学院</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2025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年</a:t>
            </a: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 3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月 </a:t>
            </a:r>
            <a:r>
              <a:rPr lang="en-US" altLang="zh-CN" sz="1600" dirty="0">
                <a:solidFill>
                  <a:prstClr val="black"/>
                </a:solidFill>
                <a:latin typeface="微软雅黑"/>
                <a:ea typeface="微软雅黑" panose="020B0503020204020204" pitchFamily="34" charset="-122"/>
              </a:rPr>
              <a:t>25</a:t>
            </a: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日</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p:cNvSpPr txBox="1"/>
          <p:nvPr/>
        </p:nvSpPr>
        <p:spPr>
          <a:xfrm>
            <a:off x="1885653" y="2818959"/>
            <a:ext cx="1973436" cy="1172788"/>
          </a:xfrm>
          <a:prstGeom prst="rect">
            <a:avLst/>
          </a:prstGeom>
        </p:spPr>
        <p:txBody>
          <a:bodyPr>
            <a:normAutofit/>
          </a:bodyPr>
          <a:lstStyle>
            <a:lvl1pPr algn="l" defTabSz="914400" rtl="0" eaLnBrk="1" latinLnBrk="0" hangingPunct="1">
              <a:lnSpc>
                <a:spcPct val="90000"/>
              </a:lnSpc>
              <a:spcBef>
                <a:spcPct val="0"/>
              </a:spcBef>
              <a:buNone/>
              <a:defRPr sz="2800" b="1" kern="1200">
                <a:solidFill>
                  <a:schemeClr val="tx1"/>
                </a:solidFill>
                <a:latin typeface="+mj-ea"/>
                <a:ea typeface="+mj-ea"/>
                <a:cs typeface="+mj-cs"/>
              </a:defRPr>
            </a:lvl1pPr>
          </a:lstStyle>
          <a:p>
            <a:pPr marL="0" marR="0" lvl="0" indent="0" algn="ctr" defTabSz="914400" rtl="0" eaLnBrk="1" fontAlgn="auto" latinLnBrk="0" hangingPunct="1">
              <a:lnSpc>
                <a:spcPct val="125000"/>
              </a:lnSpc>
              <a:spcBef>
                <a:spcPct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微软雅黑"/>
                <a:ea typeface="微软雅黑"/>
                <a:cs typeface="+mj-cs"/>
              </a:rPr>
              <a:t>目录</a:t>
            </a:r>
            <a:endParaRPr kumimoji="0" lang="en-US" altLang="zh-CN" sz="3200" b="1" i="0" u="none" strike="noStrike" kern="1200" cap="none" spc="0" normalizeH="0" baseline="0" noProof="0" dirty="0">
              <a:ln>
                <a:noFill/>
              </a:ln>
              <a:solidFill>
                <a:prstClr val="black"/>
              </a:solidFill>
              <a:effectLst/>
              <a:uLnTx/>
              <a:uFillTx/>
              <a:latin typeface="微软雅黑"/>
              <a:ea typeface="微软雅黑"/>
              <a:cs typeface="+mj-cs"/>
            </a:endParaRPr>
          </a:p>
          <a:p>
            <a:pPr marL="0" marR="0" lvl="0" indent="0" algn="ctr" defTabSz="914400" rtl="0" eaLnBrk="1" fontAlgn="auto" latinLnBrk="0" hangingPunct="1">
              <a:lnSpc>
                <a:spcPct val="125000"/>
              </a:lnSpc>
              <a:spcBef>
                <a:spcPct val="0"/>
              </a:spcBef>
              <a:spcAft>
                <a:spcPts val="0"/>
              </a:spcAft>
              <a:buClrTx/>
              <a:buSzTx/>
              <a:buFontTx/>
              <a:buNone/>
              <a:tabLst/>
              <a:defRPr/>
            </a:pPr>
            <a:r>
              <a:rPr kumimoji="0" lang="en-US" altLang="zh-CN" sz="2300" b="1" i="0" u="none" strike="noStrike" kern="1200" cap="none" spc="0" normalizeH="0" baseline="0" noProof="0" dirty="0">
                <a:ln>
                  <a:noFill/>
                </a:ln>
                <a:solidFill>
                  <a:srgbClr val="002060"/>
                </a:solidFill>
                <a:effectLst/>
                <a:uLnTx/>
                <a:uFillTx/>
                <a:latin typeface="微软雅黑"/>
                <a:ea typeface="微软雅黑"/>
                <a:cs typeface="+mj-cs"/>
              </a:rPr>
              <a:t>Contents</a:t>
            </a:r>
            <a:endParaRPr kumimoji="0" lang="zh-CN" altLang="en-US" sz="2300" b="1" i="0" u="none" strike="noStrike" kern="1200" cap="none" spc="0" normalizeH="0" baseline="0" noProof="0" dirty="0">
              <a:ln>
                <a:noFill/>
              </a:ln>
              <a:solidFill>
                <a:srgbClr val="002060"/>
              </a:solidFill>
              <a:effectLst/>
              <a:uLnTx/>
              <a:uFillTx/>
              <a:latin typeface="微软雅黑"/>
              <a:ea typeface="微软雅黑"/>
              <a:cs typeface="+mj-cs"/>
            </a:endParaRPr>
          </a:p>
        </p:txBody>
      </p:sp>
      <p:cxnSp>
        <p:nvCxnSpPr>
          <p:cNvPr id="23" name="直接连接符 22"/>
          <p:cNvCxnSpPr>
            <a:cxnSpLocks/>
          </p:cNvCxnSpPr>
          <p:nvPr/>
        </p:nvCxnSpPr>
        <p:spPr>
          <a:xfrm>
            <a:off x="4134126" y="830232"/>
            <a:ext cx="0" cy="5120230"/>
          </a:xfrm>
          <a:prstGeom prst="line">
            <a:avLst/>
          </a:prstGeom>
        </p:spPr>
        <p:style>
          <a:lnRef idx="1">
            <a:schemeClr val="accent1"/>
          </a:lnRef>
          <a:fillRef idx="0">
            <a:schemeClr val="accent1"/>
          </a:fillRef>
          <a:effectRef idx="0">
            <a:schemeClr val="accent1"/>
          </a:effectRef>
          <a:fontRef idx="minor">
            <a:schemeClr val="tx1"/>
          </a:fontRef>
        </p:style>
      </p:cxnSp>
      <p:grpSp>
        <p:nvGrpSpPr>
          <p:cNvPr id="55" name="组合 54"/>
          <p:cNvGrpSpPr/>
          <p:nvPr/>
        </p:nvGrpSpPr>
        <p:grpSpPr>
          <a:xfrm>
            <a:off x="898936" y="2464481"/>
            <a:ext cx="1973435" cy="1831294"/>
            <a:chOff x="3499700" y="3154849"/>
            <a:chExt cx="1107440" cy="838200"/>
          </a:xfrm>
        </p:grpSpPr>
        <p:cxnSp>
          <p:nvCxnSpPr>
            <p:cNvPr id="45" name="直接连接符 44"/>
            <p:cNvCxnSpPr/>
            <p:nvPr/>
          </p:nvCxnSpPr>
          <p:spPr>
            <a:xfrm>
              <a:off x="3499700" y="3154849"/>
              <a:ext cx="1107440" cy="0"/>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3711367" y="3992574"/>
              <a:ext cx="895773" cy="475"/>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3711367" y="3154849"/>
              <a:ext cx="0" cy="837725"/>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4607140" y="3154849"/>
              <a:ext cx="0" cy="130218"/>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4607140" y="3862356"/>
              <a:ext cx="0" cy="130218"/>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CE73EFFC-0B09-FA91-313E-706EE85E4A21}"/>
              </a:ext>
            </a:extLst>
          </p:cNvPr>
          <p:cNvGrpSpPr/>
          <p:nvPr/>
        </p:nvGrpSpPr>
        <p:grpSpPr>
          <a:xfrm>
            <a:off x="4939356" y="707978"/>
            <a:ext cx="5976775" cy="833690"/>
            <a:chOff x="5085129" y="793703"/>
            <a:chExt cx="5976775" cy="833690"/>
          </a:xfrm>
        </p:grpSpPr>
        <p:sp>
          <p:nvSpPr>
            <p:cNvPr id="6" name="椭圆 5"/>
            <p:cNvSpPr/>
            <p:nvPr/>
          </p:nvSpPr>
          <p:spPr>
            <a:xfrm>
              <a:off x="5085129" y="915957"/>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1</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0" name="文本框 9"/>
            <p:cNvSpPr txBox="1"/>
            <p:nvPr/>
          </p:nvSpPr>
          <p:spPr>
            <a:xfrm>
              <a:off x="5866338" y="793703"/>
              <a:ext cx="5195566" cy="833690"/>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研究背景与意义</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u="none" strike="noStrike" kern="1200" cap="none" spc="0" normalizeH="0" baseline="0" noProof="0" dirty="0">
                  <a:ln>
                    <a:noFill/>
                  </a:ln>
                  <a:solidFill>
                    <a:srgbClr val="002060"/>
                  </a:solidFill>
                  <a:effectLst/>
                  <a:uLnTx/>
                  <a:uFillTx/>
                  <a:latin typeface="微软雅黑"/>
                  <a:ea typeface="微软雅黑"/>
                  <a:cs typeface="+mn-cs"/>
                </a:rPr>
                <a:t>Research Background and Significance</a:t>
              </a:r>
              <a:endParaRPr kumimoji="0" lang="zh-CN" altLang="en-US" sz="1600" b="1" u="none" strike="noStrike" kern="1200" cap="none" spc="0" normalizeH="0" baseline="0" noProof="0" dirty="0">
                <a:ln>
                  <a:noFill/>
                </a:ln>
                <a:solidFill>
                  <a:srgbClr val="002060"/>
                </a:solidFill>
                <a:effectLst/>
                <a:uLnTx/>
                <a:uFillTx/>
                <a:latin typeface="微软雅黑"/>
                <a:ea typeface="微软雅黑"/>
                <a:cs typeface="+mn-cs"/>
              </a:endParaRPr>
            </a:p>
          </p:txBody>
        </p:sp>
      </p:grpSp>
      <p:grpSp>
        <p:nvGrpSpPr>
          <p:cNvPr id="25" name="组合 24">
            <a:extLst>
              <a:ext uri="{FF2B5EF4-FFF2-40B4-BE49-F238E27FC236}">
                <a16:creationId xmlns:a16="http://schemas.microsoft.com/office/drawing/2014/main" id="{043010AF-DD4A-98DE-70CE-AB61557C92DE}"/>
              </a:ext>
            </a:extLst>
          </p:cNvPr>
          <p:cNvGrpSpPr/>
          <p:nvPr/>
        </p:nvGrpSpPr>
        <p:grpSpPr>
          <a:xfrm>
            <a:off x="4939356" y="1826453"/>
            <a:ext cx="5976775" cy="833690"/>
            <a:chOff x="5085129" y="1898603"/>
            <a:chExt cx="5976775" cy="833690"/>
          </a:xfrm>
        </p:grpSpPr>
        <p:sp>
          <p:nvSpPr>
            <p:cNvPr id="4" name="椭圆 3">
              <a:extLst>
                <a:ext uri="{FF2B5EF4-FFF2-40B4-BE49-F238E27FC236}">
                  <a16:creationId xmlns:a16="http://schemas.microsoft.com/office/drawing/2014/main" id="{92C2460F-1A6D-B506-B1DA-3A572558FC74}"/>
                </a:ext>
              </a:extLst>
            </p:cNvPr>
            <p:cNvSpPr/>
            <p:nvPr/>
          </p:nvSpPr>
          <p:spPr>
            <a:xfrm>
              <a:off x="5085129" y="2020857"/>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2</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9" name="文本框 8">
              <a:extLst>
                <a:ext uri="{FF2B5EF4-FFF2-40B4-BE49-F238E27FC236}">
                  <a16:creationId xmlns:a16="http://schemas.microsoft.com/office/drawing/2014/main" id="{457D35C7-312D-214B-D248-296BE6A5F9A9}"/>
                </a:ext>
              </a:extLst>
            </p:cNvPr>
            <p:cNvSpPr txBox="1"/>
            <p:nvPr/>
          </p:nvSpPr>
          <p:spPr>
            <a:xfrm>
              <a:off x="5866338" y="1898603"/>
              <a:ext cx="5195566" cy="833690"/>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研究目标</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2060"/>
                  </a:solidFill>
                  <a:effectLst/>
                  <a:uLnTx/>
                  <a:uFillTx/>
                  <a:latin typeface="微软雅黑"/>
                  <a:ea typeface="微软雅黑"/>
                  <a:cs typeface="+mn-cs"/>
                </a:rPr>
                <a:t>Research Objectives</a:t>
              </a:r>
            </a:p>
          </p:txBody>
        </p:sp>
      </p:grpSp>
      <p:grpSp>
        <p:nvGrpSpPr>
          <p:cNvPr id="26" name="组合 25">
            <a:extLst>
              <a:ext uri="{FF2B5EF4-FFF2-40B4-BE49-F238E27FC236}">
                <a16:creationId xmlns:a16="http://schemas.microsoft.com/office/drawing/2014/main" id="{7277EA09-925A-5F00-AE0D-C589EF416170}"/>
              </a:ext>
            </a:extLst>
          </p:cNvPr>
          <p:cNvGrpSpPr/>
          <p:nvPr/>
        </p:nvGrpSpPr>
        <p:grpSpPr>
          <a:xfrm>
            <a:off x="4939356" y="2944928"/>
            <a:ext cx="5976775" cy="833690"/>
            <a:chOff x="5085129" y="2921209"/>
            <a:chExt cx="5976775" cy="833690"/>
          </a:xfrm>
        </p:grpSpPr>
        <p:sp>
          <p:nvSpPr>
            <p:cNvPr id="12" name="椭圆 11">
              <a:extLst>
                <a:ext uri="{FF2B5EF4-FFF2-40B4-BE49-F238E27FC236}">
                  <a16:creationId xmlns:a16="http://schemas.microsoft.com/office/drawing/2014/main" id="{2351CEEC-EF15-8BC6-9603-28B1C4D310E8}"/>
                </a:ext>
              </a:extLst>
            </p:cNvPr>
            <p:cNvSpPr/>
            <p:nvPr/>
          </p:nvSpPr>
          <p:spPr>
            <a:xfrm>
              <a:off x="5085129" y="3043463"/>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3</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3" name="文本框 12">
              <a:extLst>
                <a:ext uri="{FF2B5EF4-FFF2-40B4-BE49-F238E27FC236}">
                  <a16:creationId xmlns:a16="http://schemas.microsoft.com/office/drawing/2014/main" id="{C5B15E50-E71B-7CEF-3F6E-5F2574DFC72C}"/>
                </a:ext>
              </a:extLst>
            </p:cNvPr>
            <p:cNvSpPr txBox="1"/>
            <p:nvPr/>
          </p:nvSpPr>
          <p:spPr>
            <a:xfrm>
              <a:off x="5866338" y="2921209"/>
              <a:ext cx="5195566" cy="833690"/>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lang="zh-CN" altLang="en-US" sz="2400" b="1" dirty="0">
                  <a:solidFill>
                    <a:prstClr val="black"/>
                  </a:solidFill>
                  <a:latin typeface="微软雅黑"/>
                  <a:ea typeface="微软雅黑"/>
                </a:rPr>
                <a:t>研究方法与过程</a:t>
              </a:r>
              <a:endPar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2060"/>
                  </a:solidFill>
                  <a:effectLst/>
                  <a:uLnTx/>
                  <a:uFillTx/>
                  <a:latin typeface="微软雅黑"/>
                  <a:ea typeface="微软雅黑"/>
                  <a:cs typeface="+mn-cs"/>
                </a:rPr>
                <a:t>Research Methods and Process</a:t>
              </a:r>
            </a:p>
          </p:txBody>
        </p:sp>
      </p:grpSp>
      <p:grpSp>
        <p:nvGrpSpPr>
          <p:cNvPr id="27" name="组合 26">
            <a:extLst>
              <a:ext uri="{FF2B5EF4-FFF2-40B4-BE49-F238E27FC236}">
                <a16:creationId xmlns:a16="http://schemas.microsoft.com/office/drawing/2014/main" id="{EBC417DD-816C-8A97-FF23-3E188E1526B8}"/>
              </a:ext>
            </a:extLst>
          </p:cNvPr>
          <p:cNvGrpSpPr/>
          <p:nvPr/>
        </p:nvGrpSpPr>
        <p:grpSpPr>
          <a:xfrm>
            <a:off x="4939356" y="4063403"/>
            <a:ext cx="5976775" cy="833690"/>
            <a:chOff x="5085129" y="4125708"/>
            <a:chExt cx="5976775" cy="833690"/>
          </a:xfrm>
        </p:grpSpPr>
        <p:sp>
          <p:nvSpPr>
            <p:cNvPr id="16" name="椭圆 15">
              <a:extLst>
                <a:ext uri="{FF2B5EF4-FFF2-40B4-BE49-F238E27FC236}">
                  <a16:creationId xmlns:a16="http://schemas.microsoft.com/office/drawing/2014/main" id="{9653703C-6629-F4B2-5872-727A3FEDF2E6}"/>
                </a:ext>
              </a:extLst>
            </p:cNvPr>
            <p:cNvSpPr/>
            <p:nvPr/>
          </p:nvSpPr>
          <p:spPr>
            <a:xfrm>
              <a:off x="5085129" y="4247962"/>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4</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8" name="文本框 17">
              <a:extLst>
                <a:ext uri="{FF2B5EF4-FFF2-40B4-BE49-F238E27FC236}">
                  <a16:creationId xmlns:a16="http://schemas.microsoft.com/office/drawing/2014/main" id="{F753F5D2-62C6-A4FF-018D-C15F01932297}"/>
                </a:ext>
              </a:extLst>
            </p:cNvPr>
            <p:cNvSpPr txBox="1"/>
            <p:nvPr/>
          </p:nvSpPr>
          <p:spPr>
            <a:xfrm>
              <a:off x="5866338" y="4125708"/>
              <a:ext cx="5195566" cy="833690"/>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lang="zh-CN" altLang="en-US" sz="2400" b="1" dirty="0">
                  <a:solidFill>
                    <a:prstClr val="black"/>
                  </a:solidFill>
                  <a:latin typeface="微软雅黑"/>
                  <a:ea typeface="微软雅黑"/>
                </a:rPr>
                <a:t>研究结果</a:t>
              </a:r>
              <a:endParaRPr kumimoji="0" lang="en-US" altLang="zh-CN" sz="2400" b="1" i="0" u="none" strike="noStrike" kern="1200" cap="none" spc="0" normalizeH="0" baseline="0" noProof="0" dirty="0">
                <a:ln>
                  <a:noFill/>
                </a:ln>
                <a:solidFill>
                  <a:prstClr val="black"/>
                </a:solidFill>
                <a:effectLst/>
                <a:uLnTx/>
                <a:uFillTx/>
                <a:latin typeface="微软雅黑"/>
                <a:ea typeface="微软雅黑"/>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2060"/>
                  </a:solidFill>
                  <a:effectLst/>
                  <a:uLnTx/>
                  <a:uFillTx/>
                  <a:latin typeface="微软雅黑"/>
                  <a:ea typeface="微软雅黑"/>
                  <a:cs typeface="+mn-cs"/>
                </a:rPr>
                <a:t>Research Results</a:t>
              </a:r>
              <a:endParaRPr kumimoji="0" lang="zh-CN" altLang="en-US" sz="1600" b="1" i="0" u="none" strike="noStrike" kern="1200" cap="none" spc="0" normalizeH="0" baseline="0" noProof="0" dirty="0">
                <a:ln>
                  <a:noFill/>
                </a:ln>
                <a:solidFill>
                  <a:srgbClr val="002060"/>
                </a:solidFill>
                <a:effectLst/>
                <a:uLnTx/>
                <a:uFillTx/>
                <a:latin typeface="微软雅黑"/>
                <a:ea typeface="微软雅黑"/>
                <a:cs typeface="+mn-cs"/>
              </a:endParaRPr>
            </a:p>
          </p:txBody>
        </p:sp>
      </p:grpSp>
      <p:grpSp>
        <p:nvGrpSpPr>
          <p:cNvPr id="28" name="组合 27">
            <a:extLst>
              <a:ext uri="{FF2B5EF4-FFF2-40B4-BE49-F238E27FC236}">
                <a16:creationId xmlns:a16="http://schemas.microsoft.com/office/drawing/2014/main" id="{4B204E49-8525-C856-A9D7-DB1FE9C6FF92}"/>
              </a:ext>
            </a:extLst>
          </p:cNvPr>
          <p:cNvGrpSpPr/>
          <p:nvPr/>
        </p:nvGrpSpPr>
        <p:grpSpPr>
          <a:xfrm>
            <a:off x="4939356" y="5181876"/>
            <a:ext cx="5976775" cy="833690"/>
            <a:chOff x="5085129" y="5267601"/>
            <a:chExt cx="5976775" cy="833690"/>
          </a:xfrm>
        </p:grpSpPr>
        <p:sp>
          <p:nvSpPr>
            <p:cNvPr id="20" name="椭圆 19">
              <a:extLst>
                <a:ext uri="{FF2B5EF4-FFF2-40B4-BE49-F238E27FC236}">
                  <a16:creationId xmlns:a16="http://schemas.microsoft.com/office/drawing/2014/main" id="{05D392E2-11A5-A328-A68C-7A4F6568A2A7}"/>
                </a:ext>
              </a:extLst>
            </p:cNvPr>
            <p:cNvSpPr/>
            <p:nvPr/>
          </p:nvSpPr>
          <p:spPr>
            <a:xfrm>
              <a:off x="5085129" y="5389855"/>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5</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21" name="文本框 20">
              <a:extLst>
                <a:ext uri="{FF2B5EF4-FFF2-40B4-BE49-F238E27FC236}">
                  <a16:creationId xmlns:a16="http://schemas.microsoft.com/office/drawing/2014/main" id="{4A49B0DE-F879-FACA-DF34-994CE16AF3EC}"/>
                </a:ext>
              </a:extLst>
            </p:cNvPr>
            <p:cNvSpPr txBox="1"/>
            <p:nvPr/>
          </p:nvSpPr>
          <p:spPr>
            <a:xfrm>
              <a:off x="5866338" y="5267601"/>
              <a:ext cx="5195566" cy="833690"/>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应用与展望</a:t>
              </a:r>
              <a:endParaRPr kumimoji="0" lang="en-US" altLang="zh-CN" sz="2400" b="1" i="0" u="none" strike="noStrike" kern="1200" cap="none" spc="0" normalizeH="0" baseline="0" noProof="0" dirty="0">
                <a:ln>
                  <a:noFill/>
                </a:ln>
                <a:solidFill>
                  <a:prstClr val="black"/>
                </a:solidFill>
                <a:effectLst/>
                <a:uLnTx/>
                <a:uFillTx/>
                <a:latin typeface="微软雅黑"/>
                <a:ea typeface="微软雅黑"/>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2060"/>
                  </a:solidFill>
                  <a:effectLst/>
                  <a:uLnTx/>
                  <a:uFillTx/>
                  <a:latin typeface="微软雅黑"/>
                  <a:ea typeface="微软雅黑"/>
                  <a:cs typeface="+mn-cs"/>
                </a:rPr>
                <a:t>Applications and Future Prospects</a:t>
              </a:r>
              <a:endParaRPr kumimoji="0" lang="zh-CN" altLang="en-US" sz="1600" b="1" i="0" u="none" strike="noStrike" kern="1200" cap="none" spc="0" normalizeH="0" baseline="0" noProof="0" dirty="0">
                <a:ln>
                  <a:noFill/>
                </a:ln>
                <a:solidFill>
                  <a:srgbClr val="002060"/>
                </a:solidFill>
                <a:effectLst/>
                <a:uLnTx/>
                <a:uFillTx/>
                <a:latin typeface="微软雅黑"/>
                <a:ea typeface="微软雅黑"/>
                <a:cs typeface="+mn-cs"/>
              </a:endParaRPr>
            </a:p>
          </p:txBody>
        </p:sp>
      </p:grpSp>
    </p:spTree>
    <p:extLst>
      <p:ext uri="{BB962C8B-B14F-4D97-AF65-F5344CB8AC3E}">
        <p14:creationId xmlns:p14="http://schemas.microsoft.com/office/powerpoint/2010/main" val="227114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01</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研究背景与意义</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Research Background and Significance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67B92846-F438-C450-7C2A-32CE697517E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34" r="917"/>
          <a:stretch/>
        </p:blipFill>
        <p:spPr>
          <a:xfrm>
            <a:off x="7818783" y="4663910"/>
            <a:ext cx="3706466" cy="1869777"/>
          </a:xfrm>
          <a:prstGeom prst="rect">
            <a:avLst/>
          </a:prstGeom>
        </p:spPr>
      </p:pic>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研究背景与意义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Research Background and Significance</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9" name="椭圆 8">
            <a:extLst>
              <a:ext uri="{FF2B5EF4-FFF2-40B4-BE49-F238E27FC236}">
                <a16:creationId xmlns:a16="http://schemas.microsoft.com/office/drawing/2014/main" id="{6E53D553-D14A-9510-29DC-0BD871A344F7}"/>
              </a:ext>
            </a:extLst>
          </p:cNvPr>
          <p:cNvSpPr/>
          <p:nvPr/>
        </p:nvSpPr>
        <p:spPr>
          <a:xfrm>
            <a:off x="9267825"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0" name="椭圆 9">
            <a:extLst>
              <a:ext uri="{FF2B5EF4-FFF2-40B4-BE49-F238E27FC236}">
                <a16:creationId xmlns:a16="http://schemas.microsoft.com/office/drawing/2014/main" id="{2877A471-42AB-DC68-B092-54364D1165E9}"/>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1" name="椭圆 10">
            <a:extLst>
              <a:ext uri="{FF2B5EF4-FFF2-40B4-BE49-F238E27FC236}">
                <a16:creationId xmlns:a16="http://schemas.microsoft.com/office/drawing/2014/main" id="{7E09F7AF-EEF0-EBEE-ED1E-474E69E23ED3}"/>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2" name="椭圆 11">
            <a:extLst>
              <a:ext uri="{FF2B5EF4-FFF2-40B4-BE49-F238E27FC236}">
                <a16:creationId xmlns:a16="http://schemas.microsoft.com/office/drawing/2014/main" id="{36115579-D11C-A2B3-C96B-4185E4804396}"/>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3" name="椭圆 12">
            <a:extLst>
              <a:ext uri="{FF2B5EF4-FFF2-40B4-BE49-F238E27FC236}">
                <a16:creationId xmlns:a16="http://schemas.microsoft.com/office/drawing/2014/main" id="{06ADDE0A-B9B2-A40E-B2FA-977756B309AC}"/>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4" name="文本框 13">
            <a:extLst>
              <a:ext uri="{FF2B5EF4-FFF2-40B4-BE49-F238E27FC236}">
                <a16:creationId xmlns:a16="http://schemas.microsoft.com/office/drawing/2014/main" id="{4AA90CCC-D1CA-F9E8-FA91-B16AAA5F0BD4}"/>
              </a:ext>
            </a:extLst>
          </p:cNvPr>
          <p:cNvSpPr txBox="1"/>
          <p:nvPr/>
        </p:nvSpPr>
        <p:spPr>
          <a:xfrm>
            <a:off x="666751" y="1219200"/>
            <a:ext cx="245932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1.1 </a:t>
            </a:r>
            <a:r>
              <a:rPr lang="zh-CN" altLang="en-US" sz="2000" b="1" dirty="0">
                <a:solidFill>
                  <a:prstClr val="black"/>
                </a:solidFill>
                <a:latin typeface="微软雅黑" panose="020B0503020204020204" pitchFamily="34" charset="-122"/>
                <a:ea typeface="微软雅黑" panose="020B0503020204020204" pitchFamily="34" charset="-122"/>
              </a:rPr>
              <a:t>研究</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背景与意义</a:t>
            </a:r>
          </a:p>
        </p:txBody>
      </p:sp>
      <p:pic>
        <p:nvPicPr>
          <p:cNvPr id="5" name="图片 4">
            <a:extLst>
              <a:ext uri="{FF2B5EF4-FFF2-40B4-BE49-F238E27FC236}">
                <a16:creationId xmlns:a16="http://schemas.microsoft.com/office/drawing/2014/main" id="{3DBB4A1F-8F3E-E38F-BDB2-0D5B74F4ECFD}"/>
              </a:ext>
            </a:extLst>
          </p:cNvPr>
          <p:cNvPicPr>
            <a:picLocks noChangeAspect="1"/>
          </p:cNvPicPr>
          <p:nvPr/>
        </p:nvPicPr>
        <p:blipFill>
          <a:blip r:embed="rId4"/>
          <a:stretch>
            <a:fillRect/>
          </a:stretch>
        </p:blipFill>
        <p:spPr>
          <a:xfrm>
            <a:off x="666751" y="1758469"/>
            <a:ext cx="3706466" cy="2085959"/>
          </a:xfrm>
          <a:prstGeom prst="rect">
            <a:avLst/>
          </a:prstGeom>
        </p:spPr>
      </p:pic>
      <p:sp>
        <p:nvSpPr>
          <p:cNvPr id="16" name="文本框 15">
            <a:extLst>
              <a:ext uri="{FF2B5EF4-FFF2-40B4-BE49-F238E27FC236}">
                <a16:creationId xmlns:a16="http://schemas.microsoft.com/office/drawing/2014/main" id="{454A8DAA-908C-331F-F236-419D7AA1625C}"/>
              </a:ext>
            </a:extLst>
          </p:cNvPr>
          <p:cNvSpPr txBox="1"/>
          <p:nvPr/>
        </p:nvSpPr>
        <p:spPr>
          <a:xfrm>
            <a:off x="4538749" y="1619310"/>
            <a:ext cx="6986500" cy="2951898"/>
          </a:xfrm>
          <a:prstGeom prst="rect">
            <a:avLst/>
          </a:prstGeom>
          <a:noFill/>
        </p:spPr>
        <p:txBody>
          <a:bodyPr wrap="square" rtlCol="0">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宋体" panose="02010600030101010101" pitchFamily="2" charset="-122"/>
              </a:rPr>
              <a:t>基于飞行时间法</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Time-of-Flight</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）是目前主流的三维成像方式。</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由于硬件限制，现有三维成像技术的硬件加速方案无法在小型化传感器上平衡低功耗和高精度需求。</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因此迫切需要为边缘设备</a:t>
            </a:r>
            <a:r>
              <a:rPr lang="zh-CN" altLang="en-US" dirty="0">
                <a:solidFill>
                  <a:prstClr val="black"/>
                </a:solidFill>
                <a:latin typeface="微软雅黑" panose="020B0503020204020204" pitchFamily="34" charset="-122"/>
                <a:ea typeface="微软雅黑" panose="020B0503020204020204" pitchFamily="34" charset="-122"/>
                <a:cs typeface="宋体" panose="02010600030101010101" pitchFamily="2" charset="-122"/>
              </a:rPr>
              <a:t>设计</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宋体" panose="02010600030101010101" pitchFamily="2" charset="-122"/>
              </a:rPr>
              <a:t>低功耗高性能</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的三维图像处理算法。</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本研究通过开发低功耗、高性能的三维图像处理算法，推动三维成像技术的轻量化与智能化发展，满足边缘设备对实时性与低功耗的需求，促进“感算一体”技术的</a:t>
            </a:r>
            <a:r>
              <a:rPr lang="zh-CN" altLang="en-US" dirty="0">
                <a:solidFill>
                  <a:prstClr val="black"/>
                </a:solidFill>
                <a:latin typeface="微软雅黑" panose="020B0503020204020204" pitchFamily="34" charset="-122"/>
                <a:ea typeface="微软雅黑" panose="020B0503020204020204" pitchFamily="34" charset="-122"/>
                <a:cs typeface="宋体" panose="02010600030101010101" pitchFamily="2" charset="-122"/>
              </a:rPr>
              <a:t>进步。</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pic>
        <p:nvPicPr>
          <p:cNvPr id="1026" name="Picture 2">
            <a:extLst>
              <a:ext uri="{FF2B5EF4-FFF2-40B4-BE49-F238E27FC236}">
                <a16:creationId xmlns:a16="http://schemas.microsoft.com/office/drawing/2014/main" id="{107AC1D1-32C1-C906-A9B2-CA9B61EA6E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51" y="3983587"/>
            <a:ext cx="3706466" cy="2061722"/>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66502FFC-FB33-5681-AF63-0E8C00EF3677}"/>
              </a:ext>
            </a:extLst>
          </p:cNvPr>
          <p:cNvSpPr txBox="1"/>
          <p:nvPr/>
        </p:nvSpPr>
        <p:spPr>
          <a:xfrm>
            <a:off x="666751" y="6045309"/>
            <a:ext cx="3706466" cy="584775"/>
          </a:xfrm>
          <a:prstGeom prst="rect">
            <a:avLst/>
          </a:prstGeom>
          <a:noFill/>
        </p:spPr>
        <p:txBody>
          <a:bodyPr wrap="square">
            <a:spAutoFit/>
          </a:bodyPr>
          <a:lstStyle/>
          <a:p>
            <a:pPr algn="ctr" fontAlgn="base"/>
            <a:r>
              <a:rPr lang="en-US" altLang="zh-CN" sz="1600" i="0" dirty="0">
                <a:solidFill>
                  <a:schemeClr val="bg1">
                    <a:lumMod val="50000"/>
                  </a:schemeClr>
                </a:solidFill>
                <a:effectLst/>
                <a:highlight>
                  <a:srgbClr val="FFFFFF"/>
                </a:highlight>
                <a:latin typeface="微软雅黑" panose="020B0503020204020204" pitchFamily="34" charset="-122"/>
                <a:ea typeface="微软雅黑" panose="020B0503020204020204" pitchFamily="34" charset="-122"/>
              </a:rPr>
              <a:t>3D Vision Product Suite Based on Microsoft </a:t>
            </a:r>
            <a:r>
              <a:rPr lang="en-US" altLang="zh-CN" sz="1600" i="0" dirty="0" err="1">
                <a:solidFill>
                  <a:schemeClr val="bg1">
                    <a:lumMod val="50000"/>
                  </a:schemeClr>
                </a:solidFill>
                <a:effectLst/>
                <a:highlight>
                  <a:srgbClr val="FFFFFF"/>
                </a:highlight>
                <a:latin typeface="微软雅黑" panose="020B0503020204020204" pitchFamily="34" charset="-122"/>
                <a:ea typeface="微软雅黑" panose="020B0503020204020204" pitchFamily="34" charset="-122"/>
              </a:rPr>
              <a:t>iToF</a:t>
            </a:r>
            <a:r>
              <a:rPr lang="en-US" altLang="zh-CN" sz="1600" i="0" dirty="0">
                <a:solidFill>
                  <a:schemeClr val="bg1">
                    <a:lumMod val="50000"/>
                  </a:schemeClr>
                </a:solidFill>
                <a:effectLst/>
                <a:highlight>
                  <a:srgbClr val="FFFFFF"/>
                </a:highlight>
                <a:latin typeface="微软雅黑" panose="020B0503020204020204" pitchFamily="34" charset="-122"/>
                <a:ea typeface="微软雅黑" panose="020B0503020204020204" pitchFamily="34" charset="-122"/>
              </a:rPr>
              <a:t> Depth Technology</a:t>
            </a:r>
          </a:p>
        </p:txBody>
      </p:sp>
      <p:pic>
        <p:nvPicPr>
          <p:cNvPr id="4" name="Picture 2" descr="翻译】Kinect v1和Kinect v2的彻底比较- Trace0429 - 博客园">
            <a:extLst>
              <a:ext uri="{FF2B5EF4-FFF2-40B4-BE49-F238E27FC236}">
                <a16:creationId xmlns:a16="http://schemas.microsoft.com/office/drawing/2014/main" id="{DA3E11CB-2914-42F2-8A16-23D1B230EC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4804" y="4676233"/>
            <a:ext cx="2786180" cy="1857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053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a:extLst>
              <a:ext uri="{FF2B5EF4-FFF2-40B4-BE49-F238E27FC236}">
                <a16:creationId xmlns:a16="http://schemas.microsoft.com/office/drawing/2014/main" id="{6E53D553-D14A-9510-29DC-0BD871A344F7}"/>
              </a:ext>
            </a:extLst>
          </p:cNvPr>
          <p:cNvSpPr/>
          <p:nvPr/>
        </p:nvSpPr>
        <p:spPr>
          <a:xfrm>
            <a:off x="9267825"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0" name="椭圆 9">
            <a:extLst>
              <a:ext uri="{FF2B5EF4-FFF2-40B4-BE49-F238E27FC236}">
                <a16:creationId xmlns:a16="http://schemas.microsoft.com/office/drawing/2014/main" id="{2877A471-42AB-DC68-B092-54364D1165E9}"/>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1" name="椭圆 10">
            <a:extLst>
              <a:ext uri="{FF2B5EF4-FFF2-40B4-BE49-F238E27FC236}">
                <a16:creationId xmlns:a16="http://schemas.microsoft.com/office/drawing/2014/main" id="{7E09F7AF-EEF0-EBEE-ED1E-474E69E23ED3}"/>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2" name="椭圆 11">
            <a:extLst>
              <a:ext uri="{FF2B5EF4-FFF2-40B4-BE49-F238E27FC236}">
                <a16:creationId xmlns:a16="http://schemas.microsoft.com/office/drawing/2014/main" id="{36115579-D11C-A2B3-C96B-4185E4804396}"/>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3" name="椭圆 12">
            <a:extLst>
              <a:ext uri="{FF2B5EF4-FFF2-40B4-BE49-F238E27FC236}">
                <a16:creationId xmlns:a16="http://schemas.microsoft.com/office/drawing/2014/main" id="{06ADDE0A-B9B2-A40E-B2FA-977756B309AC}"/>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4" name="文本框 13">
            <a:extLst>
              <a:ext uri="{FF2B5EF4-FFF2-40B4-BE49-F238E27FC236}">
                <a16:creationId xmlns:a16="http://schemas.microsoft.com/office/drawing/2014/main" id="{4AA90CCC-D1CA-F9E8-FA91-B16AAA5F0BD4}"/>
              </a:ext>
            </a:extLst>
          </p:cNvPr>
          <p:cNvSpPr txBox="1"/>
          <p:nvPr/>
        </p:nvSpPr>
        <p:spPr>
          <a:xfrm>
            <a:off x="666751" y="1219200"/>
            <a:ext cx="16786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1.2 </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研究现状</a:t>
            </a:r>
          </a:p>
        </p:txBody>
      </p:sp>
      <p:sp>
        <p:nvSpPr>
          <p:cNvPr id="2" name="矩形: 圆角 1">
            <a:extLst>
              <a:ext uri="{FF2B5EF4-FFF2-40B4-BE49-F238E27FC236}">
                <a16:creationId xmlns:a16="http://schemas.microsoft.com/office/drawing/2014/main" id="{1623A49B-838E-0528-68B0-273B102061EB}"/>
              </a:ext>
            </a:extLst>
          </p:cNvPr>
          <p:cNvSpPr/>
          <p:nvPr/>
        </p:nvSpPr>
        <p:spPr>
          <a:xfrm>
            <a:off x="676459" y="2163132"/>
            <a:ext cx="5267141" cy="3542343"/>
          </a:xfrm>
          <a:prstGeom prst="roundRect">
            <a:avLst>
              <a:gd name="adj" fmla="val 5121"/>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这类方法基于经典统计学模型，通过图像结构先验知识设计优化算法。首先，</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libfreenect2</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是基于</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Kinect v2</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开发的原始</a:t>
            </a:r>
            <a:r>
              <a:rPr kumimoji="0" lang="en-US"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ToF</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信号处理软件，整体处理框架被广泛使用，其中复原模块基于双边滤波的去噪模块，可实现实时处理</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[1]</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Lenzen</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等人基于实验，对比了去噪模块在处理流程中位置和去噪方法的不同对结果锐利度、平滑度的影响，其中在原始自相关数据上使用双边滤波并加以中值滤波获得了最优的效果</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[2]</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Frank</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等人对深度重建过程进行建模，得到深度图噪声模型为偏移正态分布，并且噪声方差反比与信号幅值的平方，可以依据信号幅值推测噪声分布</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[3]</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基于此噪声模型，</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Reynolds</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利用信号幅值作为置信度，作为均值滤波的系数，从而避免低置信度的像素对滤波结果造成影响</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[4]</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Mihail</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 </a:t>
            </a:r>
            <a:r>
              <a:rPr kumimoji="0" lang="en-US"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Georgiev</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等人针对在低感测环境（</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LSE</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）下的</a:t>
            </a:r>
            <a:r>
              <a:rPr kumimoji="0" lang="en-US"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ToF</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数据进行去噪处理，使用了一种基于非局部均值（</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NLM</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）的复数域去噪方法</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[5]</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algn="just">
              <a:spcBef>
                <a:spcPts val="800"/>
              </a:spcBef>
              <a:defRPr/>
            </a:pPr>
            <a:r>
              <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该类方法功耗低实时性强，但使用的方法对</a:t>
            </a:r>
            <a:r>
              <a:rPr kumimoji="0" lang="en-US" altLang="zh-CN" sz="200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ToF</a:t>
            </a:r>
            <a:r>
              <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传感器</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缺乏针对性</a:t>
            </a:r>
            <a:r>
              <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精度有限</a:t>
            </a:r>
            <a:r>
              <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en-US" altLang="zh-CN"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矩形: 圆角 3">
            <a:extLst>
              <a:ext uri="{FF2B5EF4-FFF2-40B4-BE49-F238E27FC236}">
                <a16:creationId xmlns:a16="http://schemas.microsoft.com/office/drawing/2014/main" id="{F38DCDA9-3F21-89C6-A15A-5A58DD81EBA7}"/>
              </a:ext>
            </a:extLst>
          </p:cNvPr>
          <p:cNvSpPr/>
          <p:nvPr/>
        </p:nvSpPr>
        <p:spPr>
          <a:xfrm>
            <a:off x="673101" y="1706549"/>
            <a:ext cx="5277328" cy="456583"/>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基于模型的原始数据处理</a:t>
            </a:r>
          </a:p>
        </p:txBody>
      </p:sp>
      <p:sp>
        <p:nvSpPr>
          <p:cNvPr id="25" name="文本框 24">
            <a:extLst>
              <a:ext uri="{FF2B5EF4-FFF2-40B4-BE49-F238E27FC236}">
                <a16:creationId xmlns:a16="http://schemas.microsoft.com/office/drawing/2014/main" id="{CC48E11D-2366-40D6-837F-AB26262DBB11}"/>
              </a:ext>
            </a:extLst>
          </p:cNvPr>
          <p:cNvSpPr txBox="1"/>
          <p:nvPr/>
        </p:nvSpPr>
        <p:spPr>
          <a:xfrm>
            <a:off x="673101" y="5707393"/>
            <a:ext cx="10852629" cy="961289"/>
          </a:xfrm>
          <a:prstGeom prst="rect">
            <a:avLst/>
          </a:prstGeom>
          <a:noFill/>
        </p:spPr>
        <p:txBody>
          <a:bodyPr wrap="square" anchor="b" anchorCtr="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20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然而，针对</a:t>
            </a:r>
            <a:r>
              <a:rPr kumimoji="0" lang="en-US" altLang="zh-CN" sz="2000" i="0" u="none" strike="noStrike" kern="1200" cap="none" spc="0" normalizeH="0" baseline="0" noProof="0" dirty="0" err="1">
                <a:ln>
                  <a:noFill/>
                </a:ln>
                <a:solidFill>
                  <a:srgbClr val="002060"/>
                </a:solidFill>
                <a:effectLst/>
                <a:uLnTx/>
                <a:uFillTx/>
                <a:latin typeface="微软雅黑" panose="020B0503020204020204" pitchFamily="34" charset="-122"/>
                <a:ea typeface="微软雅黑" panose="020B0503020204020204" pitchFamily="34" charset="-122"/>
                <a:cs typeface="+mn-cs"/>
              </a:rPr>
              <a:t>ToF</a:t>
            </a:r>
            <a:r>
              <a:rPr kumimoji="0" lang="zh-CN" altLang="en-US" sz="20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传感器原始数据处理的网络轻量化还鲜有研究，因此亟需提出</a:t>
            </a:r>
            <a:r>
              <a:rPr kumimoji="0"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三维图像传感器信号增强网络的轻量化方法</a:t>
            </a:r>
            <a:r>
              <a:rPr kumimoji="0" lang="zh-CN" altLang="en-US" sz="20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，推动</a:t>
            </a:r>
            <a:r>
              <a:rPr kumimoji="0" lang="en-US" altLang="zh-CN" sz="2000" i="0" u="none" strike="noStrike" kern="1200" cap="none" spc="0" normalizeH="0" baseline="0" noProof="0" dirty="0" err="1">
                <a:ln>
                  <a:noFill/>
                </a:ln>
                <a:solidFill>
                  <a:srgbClr val="002060"/>
                </a:solidFill>
                <a:effectLst/>
                <a:uLnTx/>
                <a:uFillTx/>
                <a:latin typeface="微软雅黑" panose="020B0503020204020204" pitchFamily="34" charset="-122"/>
                <a:ea typeface="微软雅黑" panose="020B0503020204020204" pitchFamily="34" charset="-122"/>
                <a:cs typeface="+mn-cs"/>
              </a:rPr>
              <a:t>ToF</a:t>
            </a:r>
            <a:r>
              <a:rPr kumimoji="0" lang="zh-CN" altLang="en-US" sz="20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传感器的实际应用。</a:t>
            </a:r>
            <a:endParaRPr kumimoji="0" lang="en-US" altLang="zh-CN" sz="20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4" name="矩形: 圆角 23">
            <a:extLst>
              <a:ext uri="{FF2B5EF4-FFF2-40B4-BE49-F238E27FC236}">
                <a16:creationId xmlns:a16="http://schemas.microsoft.com/office/drawing/2014/main" id="{6F5E3032-D891-A1B2-3957-BFB162A1FC16}"/>
              </a:ext>
            </a:extLst>
          </p:cNvPr>
          <p:cNvSpPr/>
          <p:nvPr/>
        </p:nvSpPr>
        <p:spPr>
          <a:xfrm>
            <a:off x="6251760" y="2163132"/>
            <a:ext cx="5267141" cy="3542343"/>
          </a:xfrm>
          <a:prstGeom prst="roundRect">
            <a:avLst>
              <a:gd name="adj" fmla="val 5121"/>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近年来，深度学习的引入大大提升了三维成像质量，取得了令人鼓舞的成果。</a:t>
            </a:r>
          </a:p>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Su</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等人利用端到端的深度神经网络整体替换模块化</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3D ISP</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，对</a:t>
            </a:r>
            <a:r>
              <a:rPr kumimoji="0" lang="en-US"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ToF</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原始信号进行去噪和多径干扰纠正，输出经过复原的深度图</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[6]</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p>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Guo</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等人建立了</a:t>
            </a:r>
            <a:r>
              <a:rPr kumimoji="0" lang="en-US"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ToF</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的仿真数据集，并利用该数据集进行分阶段的深度神经网络训练，进行去噪、多径干扰纠正和运动模糊去除</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[7]</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p>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Dong </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等人通过考虑不同尺度下的场景全局几何信息，预测不同尺度下的深度残差并进行融合，提升去噪精度</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[8]</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p>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另外，同时利用原始数据和深度图、信号强度图作为输入进行多次迭代</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[9]</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和表面法向量联合预测</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[10]</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，进行精细处理。</a:t>
            </a:r>
          </a:p>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en-US"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Agresti</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等人关注由于网络在仿真数据上训练，真实场景泛化能力不足，所以通过生成对抗网络在真实数据上进行自监督提升泛化性</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[11]</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algn="just">
              <a:spcBef>
                <a:spcPts val="750"/>
              </a:spcBef>
              <a:defRPr/>
            </a:pPr>
            <a:r>
              <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这类方法尤其是深度神经网络忽略复杂度，导致</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功耗高</a:t>
            </a:r>
            <a:r>
              <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，传感器</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小型化困难</a:t>
            </a:r>
            <a:r>
              <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p>
        </p:txBody>
      </p:sp>
      <p:sp>
        <p:nvSpPr>
          <p:cNvPr id="26" name="矩形: 圆角 25">
            <a:extLst>
              <a:ext uri="{FF2B5EF4-FFF2-40B4-BE49-F238E27FC236}">
                <a16:creationId xmlns:a16="http://schemas.microsoft.com/office/drawing/2014/main" id="{763A24AA-3E75-5870-DF7E-D8F8D7890C2F}"/>
              </a:ext>
            </a:extLst>
          </p:cNvPr>
          <p:cNvSpPr/>
          <p:nvPr/>
        </p:nvSpPr>
        <p:spPr>
          <a:xfrm>
            <a:off x="6248402" y="1706549"/>
            <a:ext cx="5277328" cy="456583"/>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基于深度学习的原始数据处理</a:t>
            </a:r>
          </a:p>
        </p:txBody>
      </p:sp>
      <p:sp>
        <p:nvSpPr>
          <p:cNvPr id="15" name="标题 3">
            <a:extLst>
              <a:ext uri="{FF2B5EF4-FFF2-40B4-BE49-F238E27FC236}">
                <a16:creationId xmlns:a16="http://schemas.microsoft.com/office/drawing/2014/main" id="{3C72C8F6-E988-41FB-BDA8-8482CB6B1F36}"/>
              </a:ext>
            </a:extLst>
          </p:cNvPr>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研究背景与意义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Research Background and Significance</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3323965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02</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研究目标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Research </a:t>
            </a:r>
            <a:r>
              <a:rPr lang="en-US" altLang="zh-CN" sz="2400" b="1" dirty="0">
                <a:solidFill>
                  <a:srgbClr val="002060"/>
                </a:solidFill>
                <a:latin typeface="微软雅黑"/>
                <a:ea typeface="微软雅黑"/>
              </a:rPr>
              <a:t>Objectives</a:t>
            </a:r>
            <a:endPar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endParaRPr>
          </a:p>
        </p:txBody>
      </p:sp>
    </p:spTree>
    <p:extLst>
      <p:ext uri="{BB962C8B-B14F-4D97-AF65-F5344CB8AC3E}">
        <p14:creationId xmlns:p14="http://schemas.microsoft.com/office/powerpoint/2010/main" val="292771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3">
            <a:extLst>
              <a:ext uri="{FF2B5EF4-FFF2-40B4-BE49-F238E27FC236}">
                <a16:creationId xmlns:a16="http://schemas.microsoft.com/office/drawing/2014/main" id="{DC6F436B-CF7C-4C4B-D3D8-6F762C53F509}"/>
              </a:ext>
            </a:extLst>
          </p:cNvPr>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研究</a:t>
            </a:r>
            <a:r>
              <a:rPr lang="zh-CN" altLang="en-US" dirty="0">
                <a:solidFill>
                  <a:prstClr val="black"/>
                </a:solidFill>
                <a:latin typeface="微软雅黑" panose="020B0503020204020204" pitchFamily="34" charset="-122"/>
                <a:ea typeface="微软雅黑" panose="020B0503020204020204" pitchFamily="34" charset="-122"/>
              </a:rPr>
              <a:t>目标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Research Objectives</a:t>
            </a:r>
          </a:p>
        </p:txBody>
      </p:sp>
      <p:sp>
        <p:nvSpPr>
          <p:cNvPr id="14" name="椭圆 13">
            <a:extLst>
              <a:ext uri="{FF2B5EF4-FFF2-40B4-BE49-F238E27FC236}">
                <a16:creationId xmlns:a16="http://schemas.microsoft.com/office/drawing/2014/main" id="{B29F4519-7F44-FF13-37D3-4ECBF0939ACE}"/>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5" name="椭圆 14">
            <a:extLst>
              <a:ext uri="{FF2B5EF4-FFF2-40B4-BE49-F238E27FC236}">
                <a16:creationId xmlns:a16="http://schemas.microsoft.com/office/drawing/2014/main" id="{EE937274-053F-ABCF-45B9-61EC35D083DC}"/>
              </a:ext>
            </a:extLst>
          </p:cNvPr>
          <p:cNvSpPr/>
          <p:nvPr/>
        </p:nvSpPr>
        <p:spPr>
          <a:xfrm>
            <a:off x="9741693"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6" name="椭圆 15">
            <a:extLst>
              <a:ext uri="{FF2B5EF4-FFF2-40B4-BE49-F238E27FC236}">
                <a16:creationId xmlns:a16="http://schemas.microsoft.com/office/drawing/2014/main" id="{328C22ED-762C-35C0-3D5A-118E78466FE7}"/>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9" name="椭圆 18">
            <a:extLst>
              <a:ext uri="{FF2B5EF4-FFF2-40B4-BE49-F238E27FC236}">
                <a16:creationId xmlns:a16="http://schemas.microsoft.com/office/drawing/2014/main" id="{95B36BE1-BDD2-CD15-4C5B-8041B9BA8813}"/>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0" name="椭圆 19">
            <a:extLst>
              <a:ext uri="{FF2B5EF4-FFF2-40B4-BE49-F238E27FC236}">
                <a16:creationId xmlns:a16="http://schemas.microsoft.com/office/drawing/2014/main" id="{49349C49-A12F-E44B-179D-AB20CF193EE9}"/>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grpSp>
        <p:nvGrpSpPr>
          <p:cNvPr id="3" name="组合 2">
            <a:extLst>
              <a:ext uri="{FF2B5EF4-FFF2-40B4-BE49-F238E27FC236}">
                <a16:creationId xmlns:a16="http://schemas.microsoft.com/office/drawing/2014/main" id="{E8D53418-096B-4A09-9B86-22003CB92F02}"/>
              </a:ext>
            </a:extLst>
          </p:cNvPr>
          <p:cNvGrpSpPr/>
          <p:nvPr/>
        </p:nvGrpSpPr>
        <p:grpSpPr>
          <a:xfrm>
            <a:off x="666751" y="1275987"/>
            <a:ext cx="10858498" cy="1497662"/>
            <a:chOff x="666751" y="1246959"/>
            <a:chExt cx="10858498" cy="1497662"/>
          </a:xfrm>
        </p:grpSpPr>
        <p:sp>
          <p:nvSpPr>
            <p:cNvPr id="60" name="矩形: 圆角 59">
              <a:extLst>
                <a:ext uri="{FF2B5EF4-FFF2-40B4-BE49-F238E27FC236}">
                  <a16:creationId xmlns:a16="http://schemas.microsoft.com/office/drawing/2014/main" id="{5376810D-42E8-4B49-853B-691C0A6EE93E}"/>
                </a:ext>
              </a:extLst>
            </p:cNvPr>
            <p:cNvSpPr/>
            <p:nvPr/>
          </p:nvSpPr>
          <p:spPr>
            <a:xfrm>
              <a:off x="10711987" y="1246959"/>
              <a:ext cx="584061" cy="584058"/>
            </a:xfrm>
            <a:prstGeom prst="roundRect">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微软雅黑"/>
                  <a:ea typeface="微软雅黑"/>
                  <a:cs typeface="+mn-cs"/>
                </a:rPr>
                <a:t>01</a:t>
              </a:r>
              <a:endParaRPr kumimoji="0" lang="zh-CN" altLang="en-US" sz="2000" b="1" i="0" u="none" strike="noStrike" kern="1200" cap="none" spc="0" normalizeH="0" baseline="0" noProof="0" dirty="0">
                <a:ln>
                  <a:noFill/>
                </a:ln>
                <a:solidFill>
                  <a:prstClr val="white"/>
                </a:solidFill>
                <a:effectLst/>
                <a:uLnTx/>
                <a:uFillTx/>
                <a:latin typeface="微软雅黑"/>
                <a:ea typeface="微软雅黑"/>
                <a:cs typeface="+mn-cs"/>
              </a:endParaRPr>
            </a:p>
          </p:txBody>
        </p:sp>
        <p:grpSp>
          <p:nvGrpSpPr>
            <p:cNvPr id="61" name="组合 60">
              <a:extLst>
                <a:ext uri="{FF2B5EF4-FFF2-40B4-BE49-F238E27FC236}">
                  <a16:creationId xmlns:a16="http://schemas.microsoft.com/office/drawing/2014/main" id="{F0AC4793-10DD-4A53-B77C-5586C07D26DB}"/>
                </a:ext>
              </a:extLst>
            </p:cNvPr>
            <p:cNvGrpSpPr/>
            <p:nvPr/>
          </p:nvGrpSpPr>
          <p:grpSpPr>
            <a:xfrm>
              <a:off x="666751" y="1538989"/>
              <a:ext cx="10858498" cy="1205632"/>
              <a:chOff x="1377843" y="2060005"/>
              <a:chExt cx="9253893" cy="1205632"/>
            </a:xfrm>
          </p:grpSpPr>
          <p:sp>
            <p:nvSpPr>
              <p:cNvPr id="62" name="矩形: 圆角 61">
                <a:extLst>
                  <a:ext uri="{FF2B5EF4-FFF2-40B4-BE49-F238E27FC236}">
                    <a16:creationId xmlns:a16="http://schemas.microsoft.com/office/drawing/2014/main" id="{7E2320C5-CEFF-4ABC-BB7E-CF74F7070E88}"/>
                  </a:ext>
                </a:extLst>
              </p:cNvPr>
              <p:cNvSpPr/>
              <p:nvPr/>
            </p:nvSpPr>
            <p:spPr>
              <a:xfrm>
                <a:off x="1377843" y="2060005"/>
                <a:ext cx="9253893" cy="1205632"/>
              </a:xfrm>
              <a:prstGeom prst="roundRect">
                <a:avLst>
                  <a:gd name="adj" fmla="val 11495"/>
                </a:avLst>
              </a:prstGeom>
              <a:solidFill>
                <a:schemeClr val="accent1">
                  <a:alpha val="10000"/>
                </a:schemeClr>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a:ln>
                    <a:noFill/>
                  </a:ln>
                  <a:solidFill>
                    <a:prstClr val="white"/>
                  </a:solidFill>
                  <a:effectLst/>
                  <a:uLnTx/>
                  <a:uFillTx/>
                  <a:latin typeface="微软雅黑"/>
                  <a:ea typeface="微软雅黑"/>
                  <a:cs typeface="+mn-cs"/>
                </a:endParaRPr>
              </a:p>
            </p:txBody>
          </p:sp>
          <p:sp>
            <p:nvSpPr>
              <p:cNvPr id="63" name="文本框 62">
                <a:extLst>
                  <a:ext uri="{FF2B5EF4-FFF2-40B4-BE49-F238E27FC236}">
                    <a16:creationId xmlns:a16="http://schemas.microsoft.com/office/drawing/2014/main" id="{43B129BD-EF3E-43D2-AE9F-D801413CF3C3}"/>
                  </a:ext>
                </a:extLst>
              </p:cNvPr>
              <p:cNvSpPr txBox="1"/>
              <p:nvPr/>
            </p:nvSpPr>
            <p:spPr>
              <a:xfrm>
                <a:off x="1560264" y="2212257"/>
                <a:ext cx="89458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srgbClr val="4472C4"/>
                    </a:solidFill>
                    <a:uLnTx/>
                    <a:uFillTx/>
                    <a:latin typeface="微软雅黑" panose="020B0503020204020204" pitchFamily="34" charset="-122"/>
                    <a:ea typeface="微软雅黑" panose="020B0503020204020204" pitchFamily="34" charset="-122"/>
                    <a:cs typeface="+mn-cs"/>
                  </a:rPr>
                  <a:t>探究模型中各个模块的复杂度及其冗余度对结果的影响</a:t>
                </a:r>
              </a:p>
            </p:txBody>
          </p:sp>
          <p:sp>
            <p:nvSpPr>
              <p:cNvPr id="64" name="文本框 63">
                <a:extLst>
                  <a:ext uri="{FF2B5EF4-FFF2-40B4-BE49-F238E27FC236}">
                    <a16:creationId xmlns:a16="http://schemas.microsoft.com/office/drawing/2014/main" id="{497E3DA1-FA85-495E-9A38-6FFCA48C79B4}"/>
                  </a:ext>
                </a:extLst>
              </p:cNvPr>
              <p:cNvSpPr txBox="1"/>
              <p:nvPr/>
            </p:nvSpPr>
            <p:spPr>
              <a:xfrm>
                <a:off x="1560264" y="2531047"/>
                <a:ext cx="8945811" cy="613694"/>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分析模型中不同模块的复杂度对画质提升效果的具体贡献，以及这些模块可能存在的冗余度。通过实验识别并优化那些对最终结果贡献较小或计算成本过高的部分，从而在不牺牲性能的前提下简化模型结构。</a:t>
                </a:r>
              </a:p>
            </p:txBody>
          </p:sp>
        </p:grpSp>
      </p:grpSp>
      <p:grpSp>
        <p:nvGrpSpPr>
          <p:cNvPr id="9" name="组合 8">
            <a:extLst>
              <a:ext uri="{FF2B5EF4-FFF2-40B4-BE49-F238E27FC236}">
                <a16:creationId xmlns:a16="http://schemas.microsoft.com/office/drawing/2014/main" id="{D86C0485-71D5-485A-BCD9-F74EFD573D75}"/>
              </a:ext>
            </a:extLst>
          </p:cNvPr>
          <p:cNvGrpSpPr/>
          <p:nvPr/>
        </p:nvGrpSpPr>
        <p:grpSpPr>
          <a:xfrm>
            <a:off x="666751" y="3084204"/>
            <a:ext cx="10858498" cy="1497662"/>
            <a:chOff x="666751" y="2995131"/>
            <a:chExt cx="10858498" cy="1497662"/>
          </a:xfrm>
        </p:grpSpPr>
        <p:sp>
          <p:nvSpPr>
            <p:cNvPr id="65" name="矩形: 圆角 64">
              <a:extLst>
                <a:ext uri="{FF2B5EF4-FFF2-40B4-BE49-F238E27FC236}">
                  <a16:creationId xmlns:a16="http://schemas.microsoft.com/office/drawing/2014/main" id="{941EB9B2-DB9A-4325-9C6C-70CB95D66C27}"/>
                </a:ext>
              </a:extLst>
            </p:cNvPr>
            <p:cNvSpPr/>
            <p:nvPr/>
          </p:nvSpPr>
          <p:spPr>
            <a:xfrm>
              <a:off x="10711987" y="2995131"/>
              <a:ext cx="584061" cy="584058"/>
            </a:xfrm>
            <a:prstGeom prst="roundRect">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微软雅黑"/>
                  <a:ea typeface="微软雅黑"/>
                  <a:cs typeface="+mn-cs"/>
                </a:rPr>
                <a:t>02</a:t>
              </a:r>
              <a:endParaRPr kumimoji="0" lang="zh-CN" altLang="en-US" sz="2000" b="1" i="0" u="none" strike="noStrike" kern="1200" cap="none" spc="0" normalizeH="0" baseline="0" noProof="0" dirty="0">
                <a:ln>
                  <a:noFill/>
                </a:ln>
                <a:solidFill>
                  <a:prstClr val="white"/>
                </a:solidFill>
                <a:effectLst/>
                <a:uLnTx/>
                <a:uFillTx/>
                <a:latin typeface="微软雅黑"/>
                <a:ea typeface="微软雅黑"/>
                <a:cs typeface="+mn-cs"/>
              </a:endParaRPr>
            </a:p>
          </p:txBody>
        </p:sp>
        <p:grpSp>
          <p:nvGrpSpPr>
            <p:cNvPr id="66" name="组合 65">
              <a:extLst>
                <a:ext uri="{FF2B5EF4-FFF2-40B4-BE49-F238E27FC236}">
                  <a16:creationId xmlns:a16="http://schemas.microsoft.com/office/drawing/2014/main" id="{D75256CC-696B-4FE9-80FE-F93F211AD220}"/>
                </a:ext>
              </a:extLst>
            </p:cNvPr>
            <p:cNvGrpSpPr/>
            <p:nvPr/>
          </p:nvGrpSpPr>
          <p:grpSpPr>
            <a:xfrm>
              <a:off x="666751" y="3287161"/>
              <a:ext cx="10858498" cy="1205632"/>
              <a:chOff x="1377843" y="2060005"/>
              <a:chExt cx="9253893" cy="1205632"/>
            </a:xfrm>
          </p:grpSpPr>
          <p:sp>
            <p:nvSpPr>
              <p:cNvPr id="67" name="矩形: 圆角 66">
                <a:extLst>
                  <a:ext uri="{FF2B5EF4-FFF2-40B4-BE49-F238E27FC236}">
                    <a16:creationId xmlns:a16="http://schemas.microsoft.com/office/drawing/2014/main" id="{98BC5405-F737-4C12-8FDB-754B5F859DBE}"/>
                  </a:ext>
                </a:extLst>
              </p:cNvPr>
              <p:cNvSpPr/>
              <p:nvPr/>
            </p:nvSpPr>
            <p:spPr>
              <a:xfrm>
                <a:off x="1377843" y="2060005"/>
                <a:ext cx="9253893" cy="1205632"/>
              </a:xfrm>
              <a:prstGeom prst="roundRect">
                <a:avLst>
                  <a:gd name="adj" fmla="val 11495"/>
                </a:avLst>
              </a:prstGeom>
              <a:solidFill>
                <a:schemeClr val="accent1">
                  <a:alpha val="10000"/>
                </a:schemeClr>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a:ln>
                    <a:noFill/>
                  </a:ln>
                  <a:solidFill>
                    <a:prstClr val="white"/>
                  </a:solidFill>
                  <a:effectLst/>
                  <a:uLnTx/>
                  <a:uFillTx/>
                  <a:latin typeface="微软雅黑"/>
                  <a:ea typeface="微软雅黑"/>
                  <a:cs typeface="+mn-cs"/>
                </a:endParaRPr>
              </a:p>
            </p:txBody>
          </p:sp>
          <p:sp>
            <p:nvSpPr>
              <p:cNvPr id="68" name="文本框 67">
                <a:extLst>
                  <a:ext uri="{FF2B5EF4-FFF2-40B4-BE49-F238E27FC236}">
                    <a16:creationId xmlns:a16="http://schemas.microsoft.com/office/drawing/2014/main" id="{951E8771-99E4-4742-9D86-C1AC54827823}"/>
                  </a:ext>
                </a:extLst>
              </p:cNvPr>
              <p:cNvSpPr txBox="1"/>
              <p:nvPr/>
            </p:nvSpPr>
            <p:spPr>
              <a:xfrm>
                <a:off x="1560264" y="2212257"/>
                <a:ext cx="89458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srgbClr val="4472C4"/>
                    </a:solidFill>
                    <a:uLnTx/>
                    <a:uFillTx/>
                    <a:latin typeface="微软雅黑" panose="020B0503020204020204" pitchFamily="34" charset="-122"/>
                    <a:ea typeface="微软雅黑" panose="020B0503020204020204" pitchFamily="34" charset="-122"/>
                    <a:cs typeface="+mn-cs"/>
                  </a:rPr>
                  <a:t>对网络进行轻量化设计</a:t>
                </a:r>
              </a:p>
            </p:txBody>
          </p:sp>
          <p:sp>
            <p:nvSpPr>
              <p:cNvPr id="69" name="文本框 68">
                <a:extLst>
                  <a:ext uri="{FF2B5EF4-FFF2-40B4-BE49-F238E27FC236}">
                    <a16:creationId xmlns:a16="http://schemas.microsoft.com/office/drawing/2014/main" id="{FDD032D5-2BFA-4D55-BB99-2BA5BB9878BA}"/>
                  </a:ext>
                </a:extLst>
              </p:cNvPr>
              <p:cNvSpPr txBox="1"/>
              <p:nvPr/>
            </p:nvSpPr>
            <p:spPr>
              <a:xfrm>
                <a:off x="1560264" y="2531047"/>
                <a:ext cx="8945811" cy="613694"/>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对深度学习模型进行轻量化处理，降低其计算复杂度和内存需求，减少模型的参数数量和计算负担</a:t>
                </a:r>
                <a:r>
                  <a:rPr lang="zh-CN" altLang="en-US" sz="1200" dirty="0">
                    <a:solidFill>
                      <a:prstClr val="black"/>
                    </a:solidFill>
                    <a:latin typeface="微软雅黑" panose="020B0503020204020204" pitchFamily="34" charset="-122"/>
                    <a:ea typeface="微软雅黑" panose="020B0503020204020204" pitchFamily="34" charset="-122"/>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使模型适合于资源受限的移动设备，如智能手机、机器人和自动驾驶系统等。</a:t>
                </a:r>
              </a:p>
            </p:txBody>
          </p:sp>
        </p:grpSp>
      </p:grpSp>
      <p:grpSp>
        <p:nvGrpSpPr>
          <p:cNvPr id="10" name="组合 9">
            <a:extLst>
              <a:ext uri="{FF2B5EF4-FFF2-40B4-BE49-F238E27FC236}">
                <a16:creationId xmlns:a16="http://schemas.microsoft.com/office/drawing/2014/main" id="{C2184EF3-9F17-4BC3-8C09-E223F88EF966}"/>
              </a:ext>
            </a:extLst>
          </p:cNvPr>
          <p:cNvGrpSpPr/>
          <p:nvPr/>
        </p:nvGrpSpPr>
        <p:grpSpPr>
          <a:xfrm>
            <a:off x="666751" y="4892420"/>
            <a:ext cx="10858498" cy="1497662"/>
            <a:chOff x="666751" y="4769127"/>
            <a:chExt cx="10858498" cy="1497662"/>
          </a:xfrm>
        </p:grpSpPr>
        <p:sp>
          <p:nvSpPr>
            <p:cNvPr id="70" name="矩形: 圆角 69">
              <a:extLst>
                <a:ext uri="{FF2B5EF4-FFF2-40B4-BE49-F238E27FC236}">
                  <a16:creationId xmlns:a16="http://schemas.microsoft.com/office/drawing/2014/main" id="{FBA9AAC6-6385-429B-8443-A0CFA5C410D8}"/>
                </a:ext>
              </a:extLst>
            </p:cNvPr>
            <p:cNvSpPr/>
            <p:nvPr/>
          </p:nvSpPr>
          <p:spPr>
            <a:xfrm>
              <a:off x="10711987" y="4769127"/>
              <a:ext cx="584061" cy="584058"/>
            </a:xfrm>
            <a:prstGeom prst="roundRect">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微软雅黑"/>
                  <a:ea typeface="微软雅黑"/>
                  <a:cs typeface="+mn-cs"/>
                </a:rPr>
                <a:t>03</a:t>
              </a:r>
              <a:endParaRPr kumimoji="0" lang="zh-CN" altLang="en-US" sz="2000" b="1" i="0" u="none" strike="noStrike" kern="1200" cap="none" spc="0" normalizeH="0" baseline="0" noProof="0" dirty="0">
                <a:ln>
                  <a:noFill/>
                </a:ln>
                <a:solidFill>
                  <a:prstClr val="white"/>
                </a:solidFill>
                <a:effectLst/>
                <a:uLnTx/>
                <a:uFillTx/>
                <a:latin typeface="微软雅黑"/>
                <a:ea typeface="微软雅黑"/>
                <a:cs typeface="+mn-cs"/>
              </a:endParaRPr>
            </a:p>
          </p:txBody>
        </p:sp>
        <p:grpSp>
          <p:nvGrpSpPr>
            <p:cNvPr id="71" name="组合 70">
              <a:extLst>
                <a:ext uri="{FF2B5EF4-FFF2-40B4-BE49-F238E27FC236}">
                  <a16:creationId xmlns:a16="http://schemas.microsoft.com/office/drawing/2014/main" id="{A50D9625-CF1E-49C7-8A05-F9D6C2B98D36}"/>
                </a:ext>
              </a:extLst>
            </p:cNvPr>
            <p:cNvGrpSpPr/>
            <p:nvPr/>
          </p:nvGrpSpPr>
          <p:grpSpPr>
            <a:xfrm>
              <a:off x="666751" y="5061157"/>
              <a:ext cx="10858498" cy="1205632"/>
              <a:chOff x="1377843" y="2060005"/>
              <a:chExt cx="9253893" cy="1205632"/>
            </a:xfrm>
          </p:grpSpPr>
          <p:sp>
            <p:nvSpPr>
              <p:cNvPr id="72" name="矩形: 圆角 71">
                <a:extLst>
                  <a:ext uri="{FF2B5EF4-FFF2-40B4-BE49-F238E27FC236}">
                    <a16:creationId xmlns:a16="http://schemas.microsoft.com/office/drawing/2014/main" id="{8E2DBED9-765F-4168-8246-4A35FF7F60AC}"/>
                  </a:ext>
                </a:extLst>
              </p:cNvPr>
              <p:cNvSpPr/>
              <p:nvPr/>
            </p:nvSpPr>
            <p:spPr>
              <a:xfrm>
                <a:off x="1377843" y="2060005"/>
                <a:ext cx="9253893" cy="1205632"/>
              </a:xfrm>
              <a:prstGeom prst="roundRect">
                <a:avLst>
                  <a:gd name="adj" fmla="val 11495"/>
                </a:avLst>
              </a:prstGeom>
              <a:solidFill>
                <a:schemeClr val="accent1">
                  <a:alpha val="10000"/>
                </a:schemeClr>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a:ln>
                    <a:noFill/>
                  </a:ln>
                  <a:solidFill>
                    <a:prstClr val="white"/>
                  </a:solidFill>
                  <a:effectLst/>
                  <a:uLnTx/>
                  <a:uFillTx/>
                  <a:latin typeface="微软雅黑"/>
                  <a:ea typeface="微软雅黑"/>
                  <a:cs typeface="+mn-cs"/>
                </a:endParaRPr>
              </a:p>
            </p:txBody>
          </p:sp>
          <p:sp>
            <p:nvSpPr>
              <p:cNvPr id="73" name="文本框 72">
                <a:extLst>
                  <a:ext uri="{FF2B5EF4-FFF2-40B4-BE49-F238E27FC236}">
                    <a16:creationId xmlns:a16="http://schemas.microsoft.com/office/drawing/2014/main" id="{65FCAD17-9E18-452F-B492-8C8DEA18E93B}"/>
                  </a:ext>
                </a:extLst>
              </p:cNvPr>
              <p:cNvSpPr txBox="1"/>
              <p:nvPr/>
            </p:nvSpPr>
            <p:spPr>
              <a:xfrm>
                <a:off x="1560264" y="2212257"/>
                <a:ext cx="89458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srgbClr val="4472C4"/>
                    </a:solidFill>
                    <a:uLnTx/>
                    <a:uFillTx/>
                    <a:latin typeface="微软雅黑" panose="020B0503020204020204" pitchFamily="34" charset="-122"/>
                    <a:ea typeface="微软雅黑" panose="020B0503020204020204" pitchFamily="34" charset="-122"/>
                    <a:cs typeface="+mn-cs"/>
                  </a:rPr>
                  <a:t>进行实际传感器数据的画质测试及计算复杂度评估</a:t>
                </a:r>
              </a:p>
            </p:txBody>
          </p:sp>
          <p:sp>
            <p:nvSpPr>
              <p:cNvPr id="74" name="文本框 73">
                <a:extLst>
                  <a:ext uri="{FF2B5EF4-FFF2-40B4-BE49-F238E27FC236}">
                    <a16:creationId xmlns:a16="http://schemas.microsoft.com/office/drawing/2014/main" id="{A0E9A438-2A71-449E-BD1A-339F9FE95010}"/>
                  </a:ext>
                </a:extLst>
              </p:cNvPr>
              <p:cNvSpPr txBox="1"/>
              <p:nvPr/>
            </p:nvSpPr>
            <p:spPr>
              <a:xfrm>
                <a:off x="1560264" y="2531047"/>
                <a:ext cx="8945811" cy="613694"/>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CPU/</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集成显卡上进行测试，模拟算力受限的边缘端设备上的运行效果，验证模型的效果及效率。评估包括对比轻量化前后画质差异、速度、功耗等指标，以确保模型的有效性和实用性。</a:t>
                </a:r>
              </a:p>
            </p:txBody>
          </p:sp>
        </p:grpSp>
      </p:grpSp>
    </p:spTree>
    <p:extLst>
      <p:ext uri="{BB962C8B-B14F-4D97-AF65-F5344CB8AC3E}">
        <p14:creationId xmlns:p14="http://schemas.microsoft.com/office/powerpoint/2010/main" val="3582987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03</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研究方法与过程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Research Methods and Process</a:t>
            </a:r>
          </a:p>
        </p:txBody>
      </p:sp>
    </p:spTree>
    <p:extLst>
      <p:ext uri="{BB962C8B-B14F-4D97-AF65-F5344CB8AC3E}">
        <p14:creationId xmlns:p14="http://schemas.microsoft.com/office/powerpoint/2010/main" val="481786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3">
            <a:extLst>
              <a:ext uri="{FF2B5EF4-FFF2-40B4-BE49-F238E27FC236}">
                <a16:creationId xmlns:a16="http://schemas.microsoft.com/office/drawing/2014/main" id="{DC6F436B-CF7C-4C4B-D3D8-6F762C53F509}"/>
              </a:ext>
            </a:extLst>
          </p:cNvPr>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研究方法与过程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Research Methods and Process</a:t>
            </a:r>
          </a:p>
        </p:txBody>
      </p:sp>
      <p:sp>
        <p:nvSpPr>
          <p:cNvPr id="2" name="文本框 1">
            <a:extLst>
              <a:ext uri="{FF2B5EF4-FFF2-40B4-BE49-F238E27FC236}">
                <a16:creationId xmlns:a16="http://schemas.microsoft.com/office/drawing/2014/main" id="{87E53C85-CFBC-BE78-1137-A5E1F841C65D}"/>
              </a:ext>
            </a:extLst>
          </p:cNvPr>
          <p:cNvSpPr txBox="1"/>
          <p:nvPr/>
        </p:nvSpPr>
        <p:spPr>
          <a:xfrm>
            <a:off x="666751" y="1219200"/>
            <a:ext cx="526939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3.1 </a:t>
            </a:r>
            <a:r>
              <a:rPr lang="zh-CN" altLang="en-US" sz="2000" b="1" dirty="0">
                <a:solidFill>
                  <a:prstClr val="black"/>
                </a:solidFill>
                <a:latin typeface="微软雅黑" panose="020B0503020204020204" pitchFamily="34" charset="-122"/>
                <a:ea typeface="微软雅黑" panose="020B0503020204020204" pitchFamily="34" charset="-122"/>
              </a:rPr>
              <a:t>基于内核范围动态调整的多尺度细节处理</a:t>
            </a:r>
          </a:p>
        </p:txBody>
      </p:sp>
      <p:sp>
        <p:nvSpPr>
          <p:cNvPr id="24" name="椭圆 23">
            <a:extLst>
              <a:ext uri="{FF2B5EF4-FFF2-40B4-BE49-F238E27FC236}">
                <a16:creationId xmlns:a16="http://schemas.microsoft.com/office/drawing/2014/main" id="{240D0F08-3B47-4F34-9C25-0F6E199FEC9F}"/>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5" name="椭圆 24">
            <a:extLst>
              <a:ext uri="{FF2B5EF4-FFF2-40B4-BE49-F238E27FC236}">
                <a16:creationId xmlns:a16="http://schemas.microsoft.com/office/drawing/2014/main" id="{A995A94B-20F2-4221-94E1-6F0D087A410D}"/>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6" name="椭圆 25">
            <a:extLst>
              <a:ext uri="{FF2B5EF4-FFF2-40B4-BE49-F238E27FC236}">
                <a16:creationId xmlns:a16="http://schemas.microsoft.com/office/drawing/2014/main" id="{9AD88044-C7CC-44B1-9EA4-ED9A8B9CC57B}"/>
              </a:ext>
            </a:extLst>
          </p:cNvPr>
          <p:cNvSpPr/>
          <p:nvPr/>
        </p:nvSpPr>
        <p:spPr>
          <a:xfrm>
            <a:off x="10215561"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7" name="椭圆 26">
            <a:extLst>
              <a:ext uri="{FF2B5EF4-FFF2-40B4-BE49-F238E27FC236}">
                <a16:creationId xmlns:a16="http://schemas.microsoft.com/office/drawing/2014/main" id="{DDF14F41-D0FA-431C-9248-500FA25C1CEF}"/>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8" name="椭圆 27">
            <a:extLst>
              <a:ext uri="{FF2B5EF4-FFF2-40B4-BE49-F238E27FC236}">
                <a16:creationId xmlns:a16="http://schemas.microsoft.com/office/drawing/2014/main" id="{F750D6B6-7E96-4540-ADF6-CAE974A2C0DF}"/>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9" name="文本框 28">
            <a:extLst>
              <a:ext uri="{FF2B5EF4-FFF2-40B4-BE49-F238E27FC236}">
                <a16:creationId xmlns:a16="http://schemas.microsoft.com/office/drawing/2014/main" id="{DE133CCA-C2B5-446F-9078-A03824D1B501}"/>
              </a:ext>
            </a:extLst>
          </p:cNvPr>
          <p:cNvSpPr txBox="1"/>
          <p:nvPr/>
        </p:nvSpPr>
        <p:spPr>
          <a:xfrm>
            <a:off x="666753" y="1666597"/>
            <a:ext cx="7016748" cy="4809265"/>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对内核范围进行动态调整，允许网络高效捕捉从长距离到短距离的依赖关系</a:t>
            </a:r>
            <a:r>
              <a:rPr kumimoji="0" lang="en-US" altLang="zh-CN" sz="15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[12]</a:t>
            </a:r>
            <a:r>
              <a:rPr kumimoji="0" lang="zh-CN" altLang="en-US" sz="15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lang="en-US" altLang="zh-CN" sz="1500" b="1" dirty="0">
              <a:solidFill>
                <a:prstClr val="black"/>
              </a:solidFill>
              <a:latin typeface="微软雅黑" panose="020B0503020204020204" pitchFamily="34" charset="-122"/>
              <a:ea typeface="微软雅黑" panose="020B0503020204020204" pitchFamily="34" charset="-122"/>
            </a:endParaRPr>
          </a:p>
          <a:p>
            <a:pPr marL="0" marR="0" lvl="0" indent="0" algn="just" defTabSz="914400" rtl="0" eaLnBrk="1" fontAlgn="auto" latinLnBrk="0" hangingPunct="1">
              <a:lnSpc>
                <a:spcPct val="150000"/>
              </a:lnSpc>
              <a:spcBef>
                <a:spcPts val="1000"/>
              </a:spcBef>
              <a:spcAft>
                <a:spcPts val="0"/>
              </a:spcAft>
              <a:buClrTx/>
              <a:buSzTx/>
              <a:buFontTx/>
              <a:buNone/>
              <a:tabLst/>
              <a:defRPr/>
            </a:pPr>
            <a:r>
              <a:rPr lang="zh-CN" altLang="en-US" sz="1500" b="1" dirty="0">
                <a:solidFill>
                  <a:prstClr val="black"/>
                </a:solidFill>
                <a:latin typeface="微软雅黑" panose="020B0503020204020204" pitchFamily="34" charset="-122"/>
                <a:ea typeface="微软雅黑" panose="020B0503020204020204" pitchFamily="34" charset="-122"/>
              </a:rPr>
              <a:t>动态卷积核（</a:t>
            </a:r>
            <a:r>
              <a:rPr lang="en-US" altLang="zh-CN" sz="1500" b="1" dirty="0">
                <a:solidFill>
                  <a:prstClr val="black"/>
                </a:solidFill>
                <a:latin typeface="微软雅黑" panose="020B0503020204020204" pitchFamily="34" charset="-122"/>
                <a:ea typeface="微软雅黑" panose="020B0503020204020204" pitchFamily="34" charset="-122"/>
              </a:rPr>
              <a:t>Dynamic Convolution</a:t>
            </a:r>
            <a:r>
              <a:rPr lang="zh-CN" altLang="en-US" sz="1500" b="1" dirty="0">
                <a:solidFill>
                  <a:prstClr val="black"/>
                </a:solidFill>
                <a:latin typeface="微软雅黑" panose="020B0503020204020204" pitchFamily="34" charset="-122"/>
                <a:ea typeface="微软雅黑" panose="020B0503020204020204" pitchFamily="34" charset="-122"/>
              </a:rPr>
              <a:t>）</a:t>
            </a:r>
            <a:r>
              <a:rPr lang="zh-CN" altLang="en-US" sz="1500" dirty="0">
                <a:solidFill>
                  <a:prstClr val="black"/>
                </a:solidFill>
                <a:latin typeface="微软雅黑" panose="020B0503020204020204" pitchFamily="34" charset="-122"/>
                <a:ea typeface="微软雅黑" panose="020B0503020204020204" pitchFamily="34" charset="-122"/>
              </a:rPr>
              <a:t>是一种通过动态生成卷积核来适应不同输入特征的方法。传统的卷积核是固定的，而动态卷积核可以根据输入的特征图动态调整卷积核的权重，从而更好地捕捉输入数据的局部特征。</a:t>
            </a:r>
            <a:endParaRPr lang="en-US" altLang="zh-CN" sz="1500" dirty="0">
              <a:solidFill>
                <a:prstClr val="black"/>
              </a:solidFill>
              <a:latin typeface="微软雅黑" panose="020B0503020204020204" pitchFamily="34" charset="-122"/>
              <a:ea typeface="微软雅黑" panose="020B0503020204020204" pitchFamily="34" charset="-122"/>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zh-CN" altLang="en-US" sz="1500" b="1" dirty="0">
                <a:solidFill>
                  <a:prstClr val="black"/>
                </a:solidFill>
                <a:latin typeface="微软雅黑" panose="020B0503020204020204" pitchFamily="34" charset="-122"/>
                <a:ea typeface="微软雅黑" panose="020B0503020204020204" pitchFamily="34" charset="-122"/>
              </a:rPr>
              <a:t>优点：</a:t>
            </a:r>
          </a:p>
          <a:p>
            <a:pPr marL="342900" marR="0" lvl="0" indent="-342900" algn="just" defTabSz="914400" rtl="0" eaLnBrk="1" fontAlgn="auto" latinLnBrk="0" hangingPunct="1">
              <a:lnSpc>
                <a:spcPct val="150000"/>
              </a:lnSpc>
              <a:spcBef>
                <a:spcPts val="0"/>
              </a:spcBef>
              <a:spcAft>
                <a:spcPts val="0"/>
              </a:spcAft>
              <a:buClrTx/>
              <a:buSzTx/>
              <a:buFont typeface="+mj-ea"/>
              <a:buAutoNum type="circleNumDbPlain"/>
              <a:tabLst/>
              <a:defRPr/>
            </a:pPr>
            <a:r>
              <a:rPr lang="zh-CN" altLang="en-US" sz="1500" dirty="0">
                <a:solidFill>
                  <a:prstClr val="black"/>
                </a:solidFill>
                <a:latin typeface="微软雅黑" panose="020B0503020204020204" pitchFamily="34" charset="-122"/>
                <a:ea typeface="微软雅黑" panose="020B0503020204020204" pitchFamily="34" charset="-122"/>
              </a:rPr>
              <a:t>适应性更强：动态卷积核可以根据输入数据的不同部分自适应地调整卷积核的权重，从而更好地捕捉局部特征。</a:t>
            </a:r>
          </a:p>
          <a:p>
            <a:pPr marL="342900" marR="0" lvl="0" indent="-342900" algn="just" defTabSz="914400" rtl="0" eaLnBrk="1" fontAlgn="auto" latinLnBrk="0" hangingPunct="1">
              <a:lnSpc>
                <a:spcPct val="150000"/>
              </a:lnSpc>
              <a:spcBef>
                <a:spcPts val="0"/>
              </a:spcBef>
              <a:spcAft>
                <a:spcPts val="0"/>
              </a:spcAft>
              <a:buClrTx/>
              <a:buSzTx/>
              <a:buFont typeface="+mj-ea"/>
              <a:buAutoNum type="circleNumDbPlain"/>
              <a:tabLst/>
              <a:defRPr/>
            </a:pPr>
            <a:r>
              <a:rPr lang="zh-CN" altLang="en-US" sz="1500" dirty="0">
                <a:solidFill>
                  <a:prstClr val="black"/>
                </a:solidFill>
                <a:latin typeface="微软雅黑" panose="020B0503020204020204" pitchFamily="34" charset="-122"/>
                <a:ea typeface="微软雅黑" panose="020B0503020204020204" pitchFamily="34" charset="-122"/>
              </a:rPr>
              <a:t>减少参数量：通过动态生成卷积核，可以减少固定卷积核的数量，从而降低模型的参数量。</a:t>
            </a:r>
          </a:p>
          <a:p>
            <a:pPr marL="342900" marR="0" lvl="0" indent="-342900" algn="just" defTabSz="914400" rtl="0" eaLnBrk="1" fontAlgn="auto" latinLnBrk="0" hangingPunct="1">
              <a:lnSpc>
                <a:spcPct val="150000"/>
              </a:lnSpc>
              <a:spcBef>
                <a:spcPts val="0"/>
              </a:spcBef>
              <a:spcAft>
                <a:spcPts val="0"/>
              </a:spcAft>
              <a:buClrTx/>
              <a:buSzTx/>
              <a:buFont typeface="+mj-ea"/>
              <a:buAutoNum type="circleNumDbPlain"/>
              <a:tabLst/>
              <a:defRPr/>
            </a:pPr>
            <a:r>
              <a:rPr lang="zh-CN" altLang="en-US" sz="1500" dirty="0">
                <a:solidFill>
                  <a:prstClr val="black"/>
                </a:solidFill>
                <a:latin typeface="微软雅黑" panose="020B0503020204020204" pitchFamily="34" charset="-122"/>
                <a:ea typeface="微软雅黑" panose="020B0503020204020204" pitchFamily="34" charset="-122"/>
              </a:rPr>
              <a:t>提高模型表达能力：动态卷积核可以增加模型的表达能力，使其能够处理更复杂的任务。</a:t>
            </a:r>
            <a:endParaRPr lang="en-US" altLang="zh-CN" sz="1500" b="1" dirty="0">
              <a:solidFill>
                <a:prstClr val="black"/>
              </a:solidFill>
              <a:latin typeface="微软雅黑" panose="020B0503020204020204" pitchFamily="34" charset="-122"/>
              <a:ea typeface="微软雅黑" panose="020B0503020204020204" pitchFamily="34" charset="-122"/>
            </a:endParaRPr>
          </a:p>
          <a:p>
            <a:pPr marL="0" marR="0" lvl="0" indent="0" algn="just" defTabSz="914400" rtl="0" eaLnBrk="1" fontAlgn="auto" latinLnBrk="0" hangingPunct="1">
              <a:lnSpc>
                <a:spcPct val="150000"/>
              </a:lnSpc>
              <a:spcBef>
                <a:spcPts val="1000"/>
              </a:spcBef>
              <a:spcAft>
                <a:spcPts val="0"/>
              </a:spcAft>
              <a:buClrTx/>
              <a:buSzTx/>
              <a:buFontTx/>
              <a:buNone/>
              <a:tabLst/>
              <a:defRPr/>
            </a:pPr>
            <a:r>
              <a:rPr kumimoji="0" lang="zh-CN" altLang="en-US" sz="15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在已有的</a:t>
            </a:r>
            <a:r>
              <a:rPr kumimoji="0" lang="en-US" altLang="zh-CN" sz="150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DeepCGLR</a:t>
            </a:r>
            <a:r>
              <a:rPr kumimoji="0" lang="zh-CN" altLang="en-US" sz="15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网络上</a:t>
            </a:r>
            <a:r>
              <a:rPr kumimoji="0" lang="zh-CN" altLang="en-US" sz="15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实施</a:t>
            </a:r>
            <a:r>
              <a:rPr lang="zh-CN" altLang="en-US" sz="1500" dirty="0">
                <a:solidFill>
                  <a:prstClr val="black"/>
                </a:solidFill>
                <a:latin typeface="微软雅黑" panose="020B0503020204020204" pitchFamily="34" charset="-122"/>
                <a:ea typeface="微软雅黑" panose="020B0503020204020204" pitchFamily="34" charset="-122"/>
              </a:rPr>
              <a:t>该</a:t>
            </a:r>
            <a:r>
              <a:rPr kumimoji="0" lang="zh-CN" altLang="en-US" sz="15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策略</a:t>
            </a:r>
            <a:r>
              <a:rPr lang="zh-CN" altLang="en-US" sz="1500" dirty="0">
                <a:solidFill>
                  <a:prstClr val="black"/>
                </a:solidFill>
                <a:latin typeface="微软雅黑" panose="020B0503020204020204" pitchFamily="34" charset="-122"/>
                <a:ea typeface="微软雅黑" panose="020B0503020204020204" pitchFamily="34" charset="-122"/>
              </a:rPr>
              <a:t>，</a:t>
            </a:r>
            <a:r>
              <a:rPr kumimoji="0" lang="zh-CN" altLang="en-US" sz="15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使网络能够更有效地处理不同细节的尺度，改善输出质量，提高模型性能，降低模型计算复杂度，减少模型参数。</a:t>
            </a:r>
            <a:endParaRPr kumimoji="0" lang="en-US" altLang="zh-CN" sz="15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AC61CA02-09B9-4DAF-8FF8-B7430AFC526E}"/>
              </a:ext>
            </a:extLst>
          </p:cNvPr>
          <p:cNvPicPr>
            <a:picLocks noChangeAspect="1"/>
          </p:cNvPicPr>
          <p:nvPr/>
        </p:nvPicPr>
        <p:blipFill>
          <a:blip r:embed="rId3"/>
          <a:stretch>
            <a:fillRect/>
          </a:stretch>
        </p:blipFill>
        <p:spPr>
          <a:xfrm>
            <a:off x="7780679" y="1248228"/>
            <a:ext cx="3744570" cy="2643831"/>
          </a:xfrm>
          <a:prstGeom prst="rect">
            <a:avLst/>
          </a:prstGeom>
        </p:spPr>
      </p:pic>
      <p:pic>
        <p:nvPicPr>
          <p:cNvPr id="9" name="图片 8">
            <a:extLst>
              <a:ext uri="{FF2B5EF4-FFF2-40B4-BE49-F238E27FC236}">
                <a16:creationId xmlns:a16="http://schemas.microsoft.com/office/drawing/2014/main" id="{3B2E9CB7-72EB-4EB2-AD7B-26C23B4C76B4}"/>
              </a:ext>
            </a:extLst>
          </p:cNvPr>
          <p:cNvPicPr>
            <a:picLocks noChangeAspect="1"/>
          </p:cNvPicPr>
          <p:nvPr/>
        </p:nvPicPr>
        <p:blipFill>
          <a:blip r:embed="rId4"/>
          <a:stretch>
            <a:fillRect/>
          </a:stretch>
        </p:blipFill>
        <p:spPr>
          <a:xfrm>
            <a:off x="7780679" y="4064469"/>
            <a:ext cx="3744570" cy="2554356"/>
          </a:xfrm>
          <a:prstGeom prst="rect">
            <a:avLst/>
          </a:prstGeom>
        </p:spPr>
      </p:pic>
    </p:spTree>
    <p:extLst>
      <p:ext uri="{BB962C8B-B14F-4D97-AF65-F5344CB8AC3E}">
        <p14:creationId xmlns:p14="http://schemas.microsoft.com/office/powerpoint/2010/main" val="1835085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617A8AF1-A1E1-5FCC-F54A-906A7F6C77B1}"/>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7" name="椭圆 6">
            <a:extLst>
              <a:ext uri="{FF2B5EF4-FFF2-40B4-BE49-F238E27FC236}">
                <a16:creationId xmlns:a16="http://schemas.microsoft.com/office/drawing/2014/main" id="{1206C0F1-AD7F-638B-E797-9EAEF9831D4E}"/>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8" name="椭圆 17">
            <a:extLst>
              <a:ext uri="{FF2B5EF4-FFF2-40B4-BE49-F238E27FC236}">
                <a16:creationId xmlns:a16="http://schemas.microsoft.com/office/drawing/2014/main" id="{B423FAE2-13D0-489E-09F2-C174091BF2C8}"/>
              </a:ext>
            </a:extLst>
          </p:cNvPr>
          <p:cNvSpPr/>
          <p:nvPr/>
        </p:nvSpPr>
        <p:spPr>
          <a:xfrm>
            <a:off x="10215561"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4" name="椭圆 23">
            <a:extLst>
              <a:ext uri="{FF2B5EF4-FFF2-40B4-BE49-F238E27FC236}">
                <a16:creationId xmlns:a16="http://schemas.microsoft.com/office/drawing/2014/main" id="{3C8BC748-704C-3975-E06F-203325DA097F}"/>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5" name="椭圆 24">
            <a:extLst>
              <a:ext uri="{FF2B5EF4-FFF2-40B4-BE49-F238E27FC236}">
                <a16:creationId xmlns:a16="http://schemas.microsoft.com/office/drawing/2014/main" id="{64991362-BC66-0750-903A-F2E12C374665}"/>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6" name="标题 3">
            <a:extLst>
              <a:ext uri="{FF2B5EF4-FFF2-40B4-BE49-F238E27FC236}">
                <a16:creationId xmlns:a16="http://schemas.microsoft.com/office/drawing/2014/main" id="{EA670FC7-716A-4863-B1A4-B073E8A44F16}"/>
              </a:ext>
            </a:extLst>
          </p:cNvPr>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研究方法与过程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Research Methods and Process</a:t>
            </a:r>
          </a:p>
        </p:txBody>
      </p:sp>
      <p:sp>
        <p:nvSpPr>
          <p:cNvPr id="19" name="文本框 18">
            <a:extLst>
              <a:ext uri="{FF2B5EF4-FFF2-40B4-BE49-F238E27FC236}">
                <a16:creationId xmlns:a16="http://schemas.microsoft.com/office/drawing/2014/main" id="{73A51DEA-C5D7-4701-9105-0AD6D5871843}"/>
              </a:ext>
            </a:extLst>
          </p:cNvPr>
          <p:cNvSpPr txBox="1"/>
          <p:nvPr/>
        </p:nvSpPr>
        <p:spPr>
          <a:xfrm>
            <a:off x="666751" y="1219200"/>
            <a:ext cx="526939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3.2 </a:t>
            </a:r>
            <a:r>
              <a:rPr lang="zh-CN" altLang="en-US" sz="2000" b="1" dirty="0">
                <a:solidFill>
                  <a:prstClr val="black"/>
                </a:solidFill>
                <a:latin typeface="微软雅黑" panose="020B0503020204020204" pitchFamily="34" charset="-122"/>
                <a:ea typeface="微软雅黑" panose="020B0503020204020204" pitchFamily="34" charset="-122"/>
              </a:rPr>
              <a:t>基于剪枝网络参数与图结构的轻量化设计</a:t>
            </a:r>
          </a:p>
        </p:txBody>
      </p:sp>
      <p:sp>
        <p:nvSpPr>
          <p:cNvPr id="30" name="文本框 29">
            <a:extLst>
              <a:ext uri="{FF2B5EF4-FFF2-40B4-BE49-F238E27FC236}">
                <a16:creationId xmlns:a16="http://schemas.microsoft.com/office/drawing/2014/main" id="{08435DFF-FE4D-49B6-844F-DE89F6950DB5}"/>
              </a:ext>
            </a:extLst>
          </p:cNvPr>
          <p:cNvSpPr txBox="1"/>
          <p:nvPr/>
        </p:nvSpPr>
        <p:spPr>
          <a:xfrm>
            <a:off x="666751" y="1720676"/>
            <a:ext cx="10858498" cy="4185761"/>
          </a:xfrm>
          <a:prstGeom prst="rect">
            <a:avLst/>
          </a:prstGeom>
          <a:noFill/>
        </p:spPr>
        <p:txBody>
          <a:bodyPr wrap="square" rtlCol="0">
            <a:spAutoFit/>
          </a:bodyPr>
          <a:lstStyle/>
          <a:p>
            <a:pPr marL="0" marR="0" lvl="0" indent="0" algn="just" defTabSz="914400" rtl="0" eaLnBrk="1" fontAlgn="auto" latinLnBrk="0" hangingPunct="1">
              <a:lnSpc>
                <a:spcPct val="17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通过精心选择剪枝算法和设计剪枝策略，可以有效地去除冗余的连接和节点，同时保持模型的性能。同时，我们还将重点关注图结构的设计，以优化模型的计算效率和存储空间利用率。通过这种方式预计可以实现适用于移动或嵌入式应用的轻量级模型。</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70000"/>
              </a:lnSpc>
              <a:spcBef>
                <a:spcPts val="150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剪枝策略：</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权重剪枝</a:t>
            </a:r>
          </a:p>
          <a:p>
            <a:pPr marL="0" marR="0" lvl="0" indent="0" algn="just" defTabSz="914400" rtl="0" eaLnBrk="1" fontAlgn="auto" latinLnBrk="0" hangingPunct="1">
              <a:lnSpc>
                <a:spcPct val="17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​策略：移除权重值接近零的连接，因为这些连接对模型的输出影响较小。</a:t>
            </a:r>
          </a:p>
          <a:p>
            <a:pPr marL="0" marR="0" lvl="0" indent="0" algn="just" defTabSz="914400" rtl="0" eaLnBrk="1" fontAlgn="auto" latinLnBrk="0" hangingPunct="1">
              <a:lnSpc>
                <a:spcPct val="17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​方法：使用</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L1</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正则化来识别并剪掉权重较小的连接。</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70000"/>
              </a:lnSpc>
              <a:spcBef>
                <a:spcPts val="150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图结构设计：稀疏连接</a:t>
            </a:r>
          </a:p>
          <a:p>
            <a:pPr marL="0" marR="0" lvl="0" indent="0" algn="just" defTabSz="914400" rtl="0" eaLnBrk="1" fontAlgn="auto" latinLnBrk="0" hangingPunct="1">
              <a:lnSpc>
                <a:spcPct val="170000"/>
              </a:lnSpc>
              <a:spcBef>
                <a:spcPts val="0"/>
              </a:spcBef>
              <a:spcAft>
                <a:spcPts val="0"/>
              </a:spcAft>
              <a:buClrTx/>
              <a:buSzTx/>
              <a:buFontTx/>
              <a:buNone/>
              <a:tabLst/>
              <a:defRPr/>
            </a:pPr>
            <a:r>
              <a:rPr lang="zh-CN" altLang="en-US" sz="1600" dirty="0">
                <a:solidFill>
                  <a:prstClr val="black"/>
                </a:solidFill>
                <a:latin typeface="微软雅黑" panose="020B0503020204020204" pitchFamily="34" charset="-122"/>
                <a:ea typeface="微软雅黑" panose="020B0503020204020204" pitchFamily="34" charset="-122"/>
              </a:rPr>
              <a:t>​策略：设计稀疏的连接图，减少模型中的连接数量。</a:t>
            </a:r>
          </a:p>
          <a:p>
            <a:pPr marL="0" marR="0" lvl="0" indent="0" algn="just" defTabSz="914400" rtl="0" eaLnBrk="1" fontAlgn="auto" latinLnBrk="0" hangingPunct="1">
              <a:lnSpc>
                <a:spcPct val="170000"/>
              </a:lnSpc>
              <a:spcBef>
                <a:spcPts val="0"/>
              </a:spcBef>
              <a:spcAft>
                <a:spcPts val="0"/>
              </a:spcAft>
              <a:buClrTx/>
              <a:buSzTx/>
              <a:buFontTx/>
              <a:buNone/>
              <a:tabLst/>
              <a:defRPr/>
            </a:pPr>
            <a:r>
              <a:rPr lang="zh-CN" altLang="en-US" sz="1600" dirty="0">
                <a:solidFill>
                  <a:prstClr val="black"/>
                </a:solidFill>
                <a:latin typeface="微软雅黑" panose="020B0503020204020204" pitchFamily="34" charset="-122"/>
                <a:ea typeface="微软雅黑" panose="020B0503020204020204" pitchFamily="34" charset="-122"/>
              </a:rPr>
              <a:t>​方法：使用稀疏卷积核，减少计算量和存储空间。</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C0FBF036-C2F4-4636-B79B-5C337D988216}"/>
              </a:ext>
            </a:extLst>
          </p:cNvPr>
          <p:cNvPicPr>
            <a:picLocks noChangeAspect="1"/>
          </p:cNvPicPr>
          <p:nvPr/>
        </p:nvPicPr>
        <p:blipFill>
          <a:blip r:embed="rId3"/>
          <a:stretch>
            <a:fillRect/>
          </a:stretch>
        </p:blipFill>
        <p:spPr>
          <a:xfrm>
            <a:off x="7446974" y="3182679"/>
            <a:ext cx="4078275" cy="2723758"/>
          </a:xfrm>
          <a:prstGeom prst="rect">
            <a:avLst/>
          </a:prstGeom>
        </p:spPr>
      </p:pic>
    </p:spTree>
    <p:extLst>
      <p:ext uri="{BB962C8B-B14F-4D97-AF65-F5344CB8AC3E}">
        <p14:creationId xmlns:p14="http://schemas.microsoft.com/office/powerpoint/2010/main" val="1775470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04</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研究结果</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Research Results</a:t>
            </a:r>
          </a:p>
        </p:txBody>
      </p:sp>
    </p:spTree>
    <p:extLst>
      <p:ext uri="{BB962C8B-B14F-4D97-AF65-F5344CB8AC3E}">
        <p14:creationId xmlns:p14="http://schemas.microsoft.com/office/powerpoint/2010/main" val="972072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研究</a:t>
            </a:r>
            <a:r>
              <a:rPr lang="zh-CN" altLang="en-US" dirty="0">
                <a:solidFill>
                  <a:prstClr val="black"/>
                </a:solidFill>
                <a:latin typeface="微软雅黑" panose="020B0503020204020204" pitchFamily="34" charset="-122"/>
                <a:ea typeface="微软雅黑" panose="020B0503020204020204" pitchFamily="34" charset="-122"/>
              </a:rPr>
              <a:t>结果</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Research Results</a:t>
            </a:r>
          </a:p>
        </p:txBody>
      </p:sp>
      <p:sp>
        <p:nvSpPr>
          <p:cNvPr id="9" name="椭圆 8">
            <a:extLst>
              <a:ext uri="{FF2B5EF4-FFF2-40B4-BE49-F238E27FC236}">
                <a16:creationId xmlns:a16="http://schemas.microsoft.com/office/drawing/2014/main" id="{6E53D553-D14A-9510-29DC-0BD871A344F7}"/>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0" name="椭圆 9">
            <a:extLst>
              <a:ext uri="{FF2B5EF4-FFF2-40B4-BE49-F238E27FC236}">
                <a16:creationId xmlns:a16="http://schemas.microsoft.com/office/drawing/2014/main" id="{2877A471-42AB-DC68-B092-54364D1165E9}"/>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1" name="椭圆 10">
            <a:extLst>
              <a:ext uri="{FF2B5EF4-FFF2-40B4-BE49-F238E27FC236}">
                <a16:creationId xmlns:a16="http://schemas.microsoft.com/office/drawing/2014/main" id="{7E09F7AF-EEF0-EBEE-ED1E-474E69E23ED3}"/>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2" name="椭圆 11">
            <a:extLst>
              <a:ext uri="{FF2B5EF4-FFF2-40B4-BE49-F238E27FC236}">
                <a16:creationId xmlns:a16="http://schemas.microsoft.com/office/drawing/2014/main" id="{36115579-D11C-A2B3-C96B-4185E4804396}"/>
              </a:ext>
            </a:extLst>
          </p:cNvPr>
          <p:cNvSpPr/>
          <p:nvPr/>
        </p:nvSpPr>
        <p:spPr>
          <a:xfrm>
            <a:off x="10689430"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3" name="椭圆 12">
            <a:extLst>
              <a:ext uri="{FF2B5EF4-FFF2-40B4-BE49-F238E27FC236}">
                <a16:creationId xmlns:a16="http://schemas.microsoft.com/office/drawing/2014/main" id="{06ADDE0A-B9B2-A40E-B2FA-977756B309AC}"/>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63" name="文本框 62">
            <a:extLst>
              <a:ext uri="{FF2B5EF4-FFF2-40B4-BE49-F238E27FC236}">
                <a16:creationId xmlns:a16="http://schemas.microsoft.com/office/drawing/2014/main" id="{32F43F4B-F18A-4917-B5BF-FA5CFC48F192}"/>
              </a:ext>
            </a:extLst>
          </p:cNvPr>
          <p:cNvSpPr txBox="1"/>
          <p:nvPr/>
        </p:nvSpPr>
        <p:spPr>
          <a:xfrm>
            <a:off x="5723641" y="1280869"/>
            <a:ext cx="2004006" cy="1260345"/>
          </a:xfrm>
          <a:prstGeom prst="rect">
            <a:avLst/>
          </a:prstGeom>
          <a:noFill/>
        </p:spPr>
        <p:txBody>
          <a:bodyPr wrap="square" rtlCol="0">
            <a:spAutoFit/>
          </a:bodyPr>
          <a:lstStyle>
            <a:defPPr>
              <a:defRPr lang="en-US"/>
            </a:defPPr>
            <a:lvl1pPr algn="ctr">
              <a:lnSpc>
                <a:spcPct val="130000"/>
              </a:lnSpc>
              <a:defRPr sz="1500">
                <a:solidFill>
                  <a:schemeClr val="tx1">
                    <a:lumMod val="65000"/>
                    <a:lumOff val="35000"/>
                  </a:schemeClr>
                </a:solidFill>
                <a:latin typeface="+mn-ea"/>
              </a:defRPr>
            </a:lvl1pPr>
          </a:lstStyle>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提升速度</a:t>
            </a:r>
            <a:endParaRPr kumimoji="0"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简化网络结构，减少计算量，实现快速处理，以适应实时应用需求。</a:t>
            </a:r>
          </a:p>
        </p:txBody>
      </p:sp>
      <p:sp>
        <p:nvSpPr>
          <p:cNvPr id="64" name="文本框 63">
            <a:extLst>
              <a:ext uri="{FF2B5EF4-FFF2-40B4-BE49-F238E27FC236}">
                <a16:creationId xmlns:a16="http://schemas.microsoft.com/office/drawing/2014/main" id="{2EECADEF-F861-4586-8ABD-A1BD7CB070BF}"/>
              </a:ext>
            </a:extLst>
          </p:cNvPr>
          <p:cNvSpPr txBox="1"/>
          <p:nvPr/>
        </p:nvSpPr>
        <p:spPr>
          <a:xfrm>
            <a:off x="8161816" y="1280869"/>
            <a:ext cx="3363433" cy="1260345"/>
          </a:xfrm>
          <a:prstGeom prst="rect">
            <a:avLst/>
          </a:prstGeom>
          <a:noFill/>
        </p:spPr>
        <p:txBody>
          <a:bodyPr wrap="square" rtlCol="0">
            <a:spAutoFit/>
          </a:bodyPr>
          <a:lstStyle>
            <a:defPPr>
              <a:defRPr lang="en-US"/>
            </a:defPPr>
            <a:lvl1pPr algn="ctr">
              <a:lnSpc>
                <a:spcPct val="130000"/>
              </a:lnSpc>
              <a:defRPr sz="1500">
                <a:solidFill>
                  <a:schemeClr val="tx1">
                    <a:lumMod val="65000"/>
                    <a:lumOff val="35000"/>
                  </a:schemeClr>
                </a:solidFill>
                <a:latin typeface="+mn-ea"/>
              </a:defRPr>
            </a:lvl1pPr>
          </a:lstStyle>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实用性验证</a:t>
            </a:r>
            <a:endParaRPr kumimoji="0"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通过实际传感器数据对模型进行全面评估，尝试在移动端部署模型，确保其在真实应用环境中的有效性和实时性。</a:t>
            </a:r>
          </a:p>
        </p:txBody>
      </p:sp>
      <p:sp>
        <p:nvSpPr>
          <p:cNvPr id="65" name="文本框 64">
            <a:extLst>
              <a:ext uri="{FF2B5EF4-FFF2-40B4-BE49-F238E27FC236}">
                <a16:creationId xmlns:a16="http://schemas.microsoft.com/office/drawing/2014/main" id="{7F98E37A-A82F-4B73-B3F4-0F102E576E37}"/>
              </a:ext>
            </a:extLst>
          </p:cNvPr>
          <p:cNvSpPr txBox="1"/>
          <p:nvPr/>
        </p:nvSpPr>
        <p:spPr>
          <a:xfrm>
            <a:off x="666751" y="1280869"/>
            <a:ext cx="1841404" cy="1260345"/>
          </a:xfrm>
          <a:prstGeom prst="rect">
            <a:avLst/>
          </a:prstGeom>
          <a:noFill/>
        </p:spPr>
        <p:txBody>
          <a:bodyPr wrap="square" rtlCol="0">
            <a:spAutoFit/>
          </a:bodyPr>
          <a:lstStyle>
            <a:defPPr>
              <a:defRPr lang="en-US"/>
            </a:defPPr>
            <a:lvl1pPr>
              <a:lnSpc>
                <a:spcPct val="130000"/>
              </a:lnSpc>
              <a:defRPr sz="1500">
                <a:solidFill>
                  <a:schemeClr val="tx1">
                    <a:lumMod val="65000"/>
                    <a:lumOff val="35000"/>
                  </a:schemeClr>
                </a:solidFill>
                <a:latin typeface="+mn-ea"/>
              </a:defRPr>
            </a:lvl1pPr>
          </a:lstStyle>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降低功耗</a:t>
            </a:r>
            <a:endParaRPr kumimoji="0"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通过轻量化设计，大幅减少模型在移动设备上的能耗。</a:t>
            </a:r>
          </a:p>
        </p:txBody>
      </p:sp>
      <p:sp>
        <p:nvSpPr>
          <p:cNvPr id="67" name="文本框 66">
            <a:extLst>
              <a:ext uri="{FF2B5EF4-FFF2-40B4-BE49-F238E27FC236}">
                <a16:creationId xmlns:a16="http://schemas.microsoft.com/office/drawing/2014/main" id="{7D000E1F-C7F9-4D91-807B-25DF8CB15938}"/>
              </a:ext>
            </a:extLst>
          </p:cNvPr>
          <p:cNvSpPr txBox="1"/>
          <p:nvPr/>
        </p:nvSpPr>
        <p:spPr>
          <a:xfrm>
            <a:off x="2942324" y="1280869"/>
            <a:ext cx="2347148" cy="1260345"/>
          </a:xfrm>
          <a:prstGeom prst="rect">
            <a:avLst/>
          </a:prstGeom>
          <a:noFill/>
        </p:spPr>
        <p:txBody>
          <a:bodyPr wrap="square" rtlCol="0">
            <a:spAutoFit/>
          </a:bodyPr>
          <a:lstStyle>
            <a:defPPr>
              <a:defRPr lang="en-US"/>
            </a:defPPr>
            <a:lvl1pPr algn="ctr">
              <a:lnSpc>
                <a:spcPct val="130000"/>
              </a:lnSpc>
              <a:defRPr sz="1500">
                <a:solidFill>
                  <a:schemeClr val="tx1">
                    <a:lumMod val="65000"/>
                    <a:lumOff val="35000"/>
                  </a:schemeClr>
                </a:solidFill>
                <a:latin typeface="+mn-ea"/>
              </a:defRPr>
            </a:lvl1pPr>
          </a:lstStyle>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减小模型参数</a:t>
            </a:r>
            <a:endParaRPr kumimoji="0"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通过剪枝、参数量化等技术减小模型尺寸，使其适合于存储和内存受限的设备。</a:t>
            </a:r>
          </a:p>
        </p:txBody>
      </p:sp>
      <p:graphicFrame>
        <p:nvGraphicFramePr>
          <p:cNvPr id="69" name="表格 68">
            <a:extLst>
              <a:ext uri="{FF2B5EF4-FFF2-40B4-BE49-F238E27FC236}">
                <a16:creationId xmlns:a16="http://schemas.microsoft.com/office/drawing/2014/main" id="{3273B2F9-FAA3-42C1-8C7B-9ED498F465F9}"/>
              </a:ext>
            </a:extLst>
          </p:cNvPr>
          <p:cNvGraphicFramePr/>
          <p:nvPr>
            <p:custDataLst>
              <p:tags r:id="rId2"/>
            </p:custDataLst>
            <p:extLst>
              <p:ext uri="{D42A27DB-BD31-4B8C-83A1-F6EECF244321}">
                <p14:modId xmlns:p14="http://schemas.microsoft.com/office/powerpoint/2010/main" val="2848430140"/>
              </p:ext>
            </p:extLst>
          </p:nvPr>
        </p:nvGraphicFramePr>
        <p:xfrm>
          <a:off x="666752" y="4908752"/>
          <a:ext cx="10858497" cy="1483880"/>
        </p:xfrm>
        <a:graphic>
          <a:graphicData uri="http://schemas.openxmlformats.org/drawingml/2006/table">
            <a:tbl>
              <a:tblPr firstRow="1" firstCol="1">
                <a:tableStyleId>{5C22544A-7EE6-4342-B048-85BDC9FD1C3A}</a:tableStyleId>
              </a:tblPr>
              <a:tblGrid>
                <a:gridCol w="1123949">
                  <a:extLst>
                    <a:ext uri="{9D8B030D-6E8A-4147-A177-3AD203B41FA5}">
                      <a16:colId xmlns:a16="http://schemas.microsoft.com/office/drawing/2014/main" val="20000"/>
                    </a:ext>
                  </a:extLst>
                </a:gridCol>
                <a:gridCol w="1075638">
                  <a:extLst>
                    <a:ext uri="{9D8B030D-6E8A-4147-A177-3AD203B41FA5}">
                      <a16:colId xmlns:a16="http://schemas.microsoft.com/office/drawing/2014/main" val="20001"/>
                    </a:ext>
                  </a:extLst>
                </a:gridCol>
                <a:gridCol w="1029386">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609725">
                  <a:extLst>
                    <a:ext uri="{9D8B030D-6E8A-4147-A177-3AD203B41FA5}">
                      <a16:colId xmlns:a16="http://schemas.microsoft.com/office/drawing/2014/main" val="20004"/>
                    </a:ext>
                  </a:extLst>
                </a:gridCol>
                <a:gridCol w="1933575">
                  <a:extLst>
                    <a:ext uri="{9D8B030D-6E8A-4147-A177-3AD203B41FA5}">
                      <a16:colId xmlns:a16="http://schemas.microsoft.com/office/drawing/2014/main" val="20005"/>
                    </a:ext>
                  </a:extLst>
                </a:gridCol>
                <a:gridCol w="2990849">
                  <a:extLst>
                    <a:ext uri="{9D8B030D-6E8A-4147-A177-3AD203B41FA5}">
                      <a16:colId xmlns:a16="http://schemas.microsoft.com/office/drawing/2014/main" val="1302646164"/>
                    </a:ext>
                  </a:extLst>
                </a:gridCol>
              </a:tblGrid>
              <a:tr h="569290">
                <a:tc>
                  <a:txBody>
                    <a:bodyPr/>
                    <a:lstStyle/>
                    <a:p>
                      <a:pPr indent="0" algn="ctr">
                        <a:buNone/>
                      </a:pPr>
                      <a:endParaRPr lang="en-US" altLang="en-US" sz="1400" b="0" dirty="0">
                        <a:solidFill>
                          <a:srgbClr val="000000"/>
                        </a:solidFill>
                        <a:latin typeface="+mj-lt"/>
                        <a:cs typeface="Times New Roman" panose="02020603050405020304" pitchFamily="18" charset="0"/>
                      </a:endParaRPr>
                    </a:p>
                  </a:txBody>
                  <a:tcPr marL="12700" marR="12700" marT="12700" anchor="ctr"/>
                </a:tc>
                <a:tc>
                  <a:txBody>
                    <a:bodyPr/>
                    <a:lstStyle/>
                    <a:p>
                      <a:pPr indent="0" algn="ctr">
                        <a:buNone/>
                      </a:pPr>
                      <a:r>
                        <a:rPr lang="en-US" sz="1400" b="1" dirty="0">
                          <a:solidFill>
                            <a:schemeClr val="bg1"/>
                          </a:solidFill>
                          <a:latin typeface="+mj-lt"/>
                        </a:rPr>
                        <a:t>RMSE</a:t>
                      </a:r>
                      <a:endParaRPr lang="en-US" altLang="en-US" sz="1400" b="1" dirty="0">
                        <a:solidFill>
                          <a:schemeClr val="bg1"/>
                        </a:solidFill>
                        <a:latin typeface="+mj-lt"/>
                        <a:cs typeface="Times New Roman" panose="02020603050405020304" pitchFamily="18" charset="0"/>
                      </a:endParaRPr>
                    </a:p>
                  </a:txBody>
                  <a:tcPr marL="12700" marR="12700" marT="12700" anchor="ctr"/>
                </a:tc>
                <a:tc>
                  <a:txBody>
                    <a:bodyPr/>
                    <a:lstStyle/>
                    <a:p>
                      <a:pPr indent="0" algn="ctr">
                        <a:buNone/>
                      </a:pPr>
                      <a:r>
                        <a:rPr lang="en-US" sz="1400" b="1" dirty="0">
                          <a:solidFill>
                            <a:schemeClr val="bg1"/>
                          </a:solidFill>
                          <a:latin typeface="+mj-lt"/>
                        </a:rPr>
                        <a:t>MAE</a:t>
                      </a:r>
                      <a:endParaRPr lang="en-US" altLang="en-US" sz="1400" b="1" dirty="0">
                        <a:solidFill>
                          <a:schemeClr val="bg1"/>
                        </a:solidFill>
                        <a:latin typeface="+mj-lt"/>
                        <a:cs typeface="Times New Roman" panose="02020603050405020304" pitchFamily="18" charset="0"/>
                      </a:endParaRPr>
                    </a:p>
                  </a:txBody>
                  <a:tcPr marL="12700" marR="12700" marT="12700" anchor="ctr"/>
                </a:tc>
                <a:tc>
                  <a:txBody>
                    <a:bodyPr/>
                    <a:lstStyle/>
                    <a:p>
                      <a:pPr indent="0" algn="ctr">
                        <a:buNone/>
                      </a:pPr>
                      <a:r>
                        <a:rPr lang="en-US" sz="1400" b="1" dirty="0">
                          <a:solidFill>
                            <a:schemeClr val="bg1"/>
                          </a:solidFill>
                          <a:latin typeface="+mj-lt"/>
                        </a:rPr>
                        <a:t>Rel</a:t>
                      </a:r>
                      <a:endParaRPr lang="en-US" altLang="en-US" sz="1400" b="1" dirty="0">
                        <a:solidFill>
                          <a:schemeClr val="bg1"/>
                        </a:solidFill>
                        <a:latin typeface="+mj-lt"/>
                        <a:cs typeface="Times New Roman" panose="02020603050405020304" pitchFamily="18" charset="0"/>
                      </a:endParaRPr>
                    </a:p>
                  </a:txBody>
                  <a:tcPr marL="12700" marR="12700" marT="12700" anchor="ctr"/>
                </a:tc>
                <a:tc>
                  <a:txBody>
                    <a:bodyPr/>
                    <a:lstStyle/>
                    <a:p>
                      <a:pPr indent="0" algn="ctr">
                        <a:buNone/>
                      </a:pPr>
                      <a:r>
                        <a:rPr lang="en-US" sz="1400" b="1" dirty="0">
                          <a:solidFill>
                            <a:schemeClr val="bg1"/>
                          </a:solidFill>
                          <a:latin typeface="+mj-lt"/>
                        </a:rPr>
                        <a:t>Total Params</a:t>
                      </a:r>
                      <a:endParaRPr lang="en-US" altLang="en-US" sz="1400" b="1" dirty="0">
                        <a:solidFill>
                          <a:schemeClr val="bg1"/>
                        </a:solidFill>
                        <a:latin typeface="+mj-lt"/>
                        <a:cs typeface="Times New Roman" panose="02020603050405020304" pitchFamily="18" charset="0"/>
                      </a:endParaRPr>
                    </a:p>
                  </a:txBody>
                  <a:tcPr marL="12700" marR="12700" marT="12700" anchor="ctr"/>
                </a:tc>
                <a:tc>
                  <a:txBody>
                    <a:bodyPr/>
                    <a:lstStyle/>
                    <a:p>
                      <a:pPr indent="0" algn="ctr">
                        <a:buNone/>
                      </a:pPr>
                      <a:r>
                        <a:rPr lang="en-US" sz="1400" b="1" dirty="0">
                          <a:solidFill>
                            <a:schemeClr val="bg1"/>
                          </a:solidFill>
                          <a:latin typeface="+mj-lt"/>
                        </a:rPr>
                        <a:t>Params Size (MB)</a:t>
                      </a:r>
                      <a:endParaRPr lang="en-US" altLang="en-US" sz="1400" b="1" dirty="0">
                        <a:solidFill>
                          <a:schemeClr val="bg1"/>
                        </a:solidFill>
                        <a:latin typeface="+mj-lt"/>
                        <a:cs typeface="Times New Roman" panose="02020603050405020304" pitchFamily="18" charset="0"/>
                      </a:endParaRPr>
                    </a:p>
                  </a:txBody>
                  <a:tcPr marL="12700" marR="12700" marT="12700" anchor="ctr"/>
                </a:tc>
                <a:tc>
                  <a:txBody>
                    <a:bodyPr/>
                    <a:lstStyle/>
                    <a:p>
                      <a:pPr indent="0" algn="ctr">
                        <a:buNone/>
                      </a:pPr>
                      <a:r>
                        <a:rPr lang="en-US" altLang="en-US" sz="1400" b="1" dirty="0">
                          <a:solidFill>
                            <a:schemeClr val="bg1"/>
                          </a:solidFill>
                          <a:latin typeface="+mj-lt"/>
                          <a:cs typeface="Times New Roman" panose="02020603050405020304" pitchFamily="18" charset="0"/>
                        </a:rPr>
                        <a:t>A</a:t>
                      </a:r>
                      <a:r>
                        <a:rPr lang="en-US" altLang="zh-CN" sz="1400" b="1" dirty="0">
                          <a:solidFill>
                            <a:schemeClr val="bg1"/>
                          </a:solidFill>
                          <a:latin typeface="+mj-lt"/>
                          <a:cs typeface="Times New Roman" panose="02020603050405020304" pitchFamily="18" charset="0"/>
                        </a:rPr>
                        <a:t>verage Processing Time (s)</a:t>
                      </a:r>
                      <a:endParaRPr lang="en-US" altLang="en-US" sz="1400" b="1" dirty="0">
                        <a:solidFill>
                          <a:schemeClr val="bg1"/>
                        </a:solidFill>
                        <a:latin typeface="+mj-lt"/>
                        <a:cs typeface="Times New Roman" panose="02020603050405020304" pitchFamily="18" charset="0"/>
                      </a:endParaRPr>
                    </a:p>
                  </a:txBody>
                  <a:tcPr marL="12700" marR="12700" marT="12700" anchor="ctr"/>
                </a:tc>
                <a:extLst>
                  <a:ext uri="{0D108BD9-81ED-4DB2-BD59-A6C34878D82A}">
                    <a16:rowId xmlns:a16="http://schemas.microsoft.com/office/drawing/2014/main" val="10000"/>
                  </a:ext>
                </a:extLst>
              </a:tr>
              <a:tr h="457295">
                <a:tc>
                  <a:txBody>
                    <a:bodyPr/>
                    <a:lstStyle/>
                    <a:p>
                      <a:pPr indent="0" algn="ctr">
                        <a:buNone/>
                      </a:pPr>
                      <a:r>
                        <a:rPr lang="zh-CN" altLang="en-US" sz="1400" b="1" dirty="0">
                          <a:solidFill>
                            <a:schemeClr val="bg1"/>
                          </a:solidFill>
                          <a:latin typeface="+mj-lt"/>
                          <a:cs typeface="Times New Roman" panose="02020603050405020304" pitchFamily="18" charset="0"/>
                        </a:rPr>
                        <a:t>轻量化前</a:t>
                      </a:r>
                      <a:endParaRPr lang="en-US" altLang="en-US" sz="1400" b="1" dirty="0">
                        <a:solidFill>
                          <a:schemeClr val="bg1"/>
                        </a:solidFill>
                        <a:latin typeface="+mj-lt"/>
                        <a:cs typeface="Times New Roman" panose="02020603050405020304" pitchFamily="18" charset="0"/>
                      </a:endParaRPr>
                    </a:p>
                  </a:txBody>
                  <a:tcPr marL="12700" marR="12700" marT="12700" anchor="ctr"/>
                </a:tc>
                <a:tc>
                  <a:txBody>
                    <a:bodyPr/>
                    <a:lstStyle/>
                    <a:p>
                      <a:pPr indent="0" algn="ctr">
                        <a:buNone/>
                      </a:pPr>
                      <a:r>
                        <a:rPr lang="en-US" altLang="en-US" sz="1400" b="0" dirty="0">
                          <a:solidFill>
                            <a:srgbClr val="000000"/>
                          </a:solidFill>
                          <a:latin typeface="+mj-lt"/>
                          <a:cs typeface="Times New Roman" panose="02020603050405020304" pitchFamily="18" charset="0"/>
                        </a:rPr>
                        <a:t>0.0695</a:t>
                      </a:r>
                    </a:p>
                  </a:txBody>
                  <a:tcPr marL="12700" marR="12700" marT="12700" anchor="ctr"/>
                </a:tc>
                <a:tc>
                  <a:txBody>
                    <a:bodyPr/>
                    <a:lstStyle/>
                    <a:p>
                      <a:pPr indent="0" algn="ctr">
                        <a:buNone/>
                      </a:pPr>
                      <a:r>
                        <a:rPr lang="en-US" altLang="en-US" sz="1400" b="0" dirty="0">
                          <a:solidFill>
                            <a:srgbClr val="000000"/>
                          </a:solidFill>
                          <a:latin typeface="+mj-lt"/>
                          <a:cs typeface="Times New Roman" panose="02020603050405020304" pitchFamily="18" charset="0"/>
                        </a:rPr>
                        <a:t>0.0108</a:t>
                      </a:r>
                    </a:p>
                  </a:txBody>
                  <a:tcPr marL="12700" marR="12700" marT="12700" anchor="ctr"/>
                </a:tc>
                <a:tc>
                  <a:txBody>
                    <a:bodyPr/>
                    <a:lstStyle/>
                    <a:p>
                      <a:pPr indent="0" algn="ctr">
                        <a:buNone/>
                      </a:pPr>
                      <a:r>
                        <a:rPr lang="en-US" altLang="en-US" sz="1400" b="0" dirty="0">
                          <a:solidFill>
                            <a:srgbClr val="000000"/>
                          </a:solidFill>
                          <a:latin typeface="+mj-lt"/>
                          <a:cs typeface="Times New Roman" panose="02020603050405020304" pitchFamily="18" charset="0"/>
                        </a:rPr>
                        <a:t>0.0209</a:t>
                      </a:r>
                    </a:p>
                  </a:txBody>
                  <a:tcPr marL="12700" marR="12700" marT="12700" anchor="ctr"/>
                </a:tc>
                <a:tc>
                  <a:txBody>
                    <a:bodyPr/>
                    <a:lstStyle/>
                    <a:p>
                      <a:pPr indent="0" algn="ctr">
                        <a:buNone/>
                      </a:pPr>
                      <a:r>
                        <a:rPr lang="en-US" sz="1400" b="0" dirty="0">
                          <a:solidFill>
                            <a:srgbClr val="000000"/>
                          </a:solidFill>
                          <a:latin typeface="+mj-lt"/>
                        </a:rPr>
                        <a:t>5611351 </a:t>
                      </a:r>
                      <a:endParaRPr lang="en-US" altLang="en-US" sz="1400" b="0" dirty="0">
                        <a:solidFill>
                          <a:srgbClr val="000000"/>
                        </a:solidFill>
                        <a:latin typeface="+mj-lt"/>
                        <a:cs typeface="Times New Roman" panose="02020603050405020304" pitchFamily="18" charset="0"/>
                      </a:endParaRP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solidFill>
                            <a:srgbClr val="000000"/>
                          </a:solidFill>
                          <a:latin typeface="+mj-lt"/>
                        </a:rPr>
                        <a:t>22.45</a:t>
                      </a: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solidFill>
                            <a:srgbClr val="000000"/>
                          </a:solidFill>
                          <a:latin typeface="+mj-lt"/>
                        </a:rPr>
                        <a:t>0.096</a:t>
                      </a:r>
                    </a:p>
                  </a:txBody>
                  <a:tcPr marL="12700" marR="12700" marT="12700" anchor="ctr"/>
                </a:tc>
                <a:extLst>
                  <a:ext uri="{0D108BD9-81ED-4DB2-BD59-A6C34878D82A}">
                    <a16:rowId xmlns:a16="http://schemas.microsoft.com/office/drawing/2014/main" val="2014224500"/>
                  </a:ext>
                </a:extLst>
              </a:tr>
              <a:tr h="457295">
                <a:tc>
                  <a:txBody>
                    <a:bodyPr/>
                    <a:lstStyle/>
                    <a:p>
                      <a:pPr indent="0" algn="ctr">
                        <a:buNone/>
                      </a:pPr>
                      <a:r>
                        <a:rPr lang="zh-CN" altLang="en-US" sz="1400" b="1" dirty="0">
                          <a:solidFill>
                            <a:schemeClr val="bg1"/>
                          </a:solidFill>
                          <a:latin typeface="+mj-lt"/>
                          <a:cs typeface="Times New Roman" panose="02020603050405020304" pitchFamily="18" charset="0"/>
                        </a:rPr>
                        <a:t>轻量化后</a:t>
                      </a:r>
                      <a:endParaRPr lang="en-US" altLang="en-US" sz="1400" b="1" dirty="0">
                        <a:solidFill>
                          <a:schemeClr val="bg1"/>
                        </a:solidFill>
                        <a:latin typeface="+mj-lt"/>
                        <a:cs typeface="Times New Roman" panose="02020603050405020304" pitchFamily="18" charset="0"/>
                      </a:endParaRPr>
                    </a:p>
                  </a:txBody>
                  <a:tcPr marL="12700" marR="12700" marT="12700" anchor="ctr"/>
                </a:tc>
                <a:tc>
                  <a:txBody>
                    <a:bodyPr/>
                    <a:lstStyle/>
                    <a:p>
                      <a:pPr indent="0" algn="ctr">
                        <a:buNone/>
                      </a:pPr>
                      <a:r>
                        <a:rPr lang="en-US" altLang="en-US" sz="1400" b="0" dirty="0">
                          <a:solidFill>
                            <a:srgbClr val="000000"/>
                          </a:solidFill>
                          <a:latin typeface="+mj-lt"/>
                          <a:cs typeface="Times New Roman" panose="02020603050405020304" pitchFamily="18" charset="0"/>
                        </a:rPr>
                        <a:t>0.0741</a:t>
                      </a:r>
                    </a:p>
                  </a:txBody>
                  <a:tcPr marL="12700" marR="12700" marT="12700" anchor="ctr"/>
                </a:tc>
                <a:tc>
                  <a:txBody>
                    <a:bodyPr/>
                    <a:lstStyle/>
                    <a:p>
                      <a:pPr indent="0" algn="ctr">
                        <a:buNone/>
                      </a:pPr>
                      <a:r>
                        <a:rPr lang="en-US" altLang="en-US" sz="1400" b="0" dirty="0">
                          <a:solidFill>
                            <a:srgbClr val="000000"/>
                          </a:solidFill>
                          <a:latin typeface="+mj-lt"/>
                          <a:cs typeface="Times New Roman" panose="02020603050405020304" pitchFamily="18" charset="0"/>
                        </a:rPr>
                        <a:t>0.0135</a:t>
                      </a:r>
                    </a:p>
                  </a:txBody>
                  <a:tcPr marL="12700" marR="12700" marT="12700" anchor="ctr"/>
                </a:tc>
                <a:tc>
                  <a:txBody>
                    <a:bodyPr/>
                    <a:lstStyle/>
                    <a:p>
                      <a:pPr indent="0" algn="ctr">
                        <a:buNone/>
                      </a:pPr>
                      <a:r>
                        <a:rPr lang="en-US" altLang="en-US" sz="1400" b="0" dirty="0">
                          <a:solidFill>
                            <a:srgbClr val="000000"/>
                          </a:solidFill>
                          <a:latin typeface="+mj-lt"/>
                          <a:cs typeface="Times New Roman" panose="02020603050405020304" pitchFamily="18" charset="0"/>
                        </a:rPr>
                        <a:t>0.0327</a:t>
                      </a:r>
                    </a:p>
                  </a:txBody>
                  <a:tcPr marL="12700" marR="12700" marT="12700" anchor="ctr"/>
                </a:tc>
                <a:tc>
                  <a:txBody>
                    <a:bodyPr/>
                    <a:lstStyle/>
                    <a:p>
                      <a:pPr indent="0" algn="ctr">
                        <a:buNone/>
                      </a:pPr>
                      <a:r>
                        <a:rPr lang="en-US" sz="1400" b="0" dirty="0">
                          <a:solidFill>
                            <a:srgbClr val="000000"/>
                          </a:solidFill>
                          <a:latin typeface="+mj-lt"/>
                        </a:rPr>
                        <a:t>844386 </a:t>
                      </a:r>
                      <a:endParaRPr lang="en-US" altLang="en-US" sz="1400" b="0" dirty="0">
                        <a:solidFill>
                          <a:srgbClr val="000000"/>
                        </a:solidFill>
                        <a:latin typeface="+mj-lt"/>
                        <a:cs typeface="Times New Roman" panose="02020603050405020304" pitchFamily="18" charset="0"/>
                      </a:endParaRPr>
                    </a:p>
                  </a:txBody>
                  <a:tcPr marL="12700" marR="12700" marT="12700" anchor="ctr"/>
                </a:tc>
                <a:tc>
                  <a:txBody>
                    <a:bodyPr/>
                    <a:lstStyle/>
                    <a:p>
                      <a:pPr indent="0" algn="ctr">
                        <a:buNone/>
                      </a:pPr>
                      <a:r>
                        <a:rPr lang="en-US" altLang="en-US" sz="1400" b="0" dirty="0">
                          <a:solidFill>
                            <a:srgbClr val="000000"/>
                          </a:solidFill>
                          <a:latin typeface="+mj-lt"/>
                          <a:cs typeface="Times New Roman" panose="02020603050405020304" pitchFamily="18" charset="0"/>
                        </a:rPr>
                        <a:t>0.58</a:t>
                      </a:r>
                    </a:p>
                  </a:txBody>
                  <a:tcPr marL="12700" marR="12700" marT="12700" anchor="ctr"/>
                </a:tc>
                <a:tc>
                  <a:txBody>
                    <a:bodyPr/>
                    <a:lstStyle/>
                    <a:p>
                      <a:pPr indent="0" algn="ctr">
                        <a:buNone/>
                      </a:pPr>
                      <a:r>
                        <a:rPr lang="en-US" altLang="en-US" sz="1400" b="0" dirty="0">
                          <a:solidFill>
                            <a:srgbClr val="000000"/>
                          </a:solidFill>
                          <a:latin typeface="+mj-lt"/>
                          <a:cs typeface="Times New Roman" panose="02020603050405020304" pitchFamily="18" charset="0"/>
                        </a:rPr>
                        <a:t>0.089</a:t>
                      </a:r>
                    </a:p>
                  </a:txBody>
                  <a:tcPr marL="12700" marR="12700" marT="12700" anchor="ctr"/>
                </a:tc>
                <a:extLst>
                  <a:ext uri="{0D108BD9-81ED-4DB2-BD59-A6C34878D82A}">
                    <a16:rowId xmlns:a16="http://schemas.microsoft.com/office/drawing/2014/main" val="1840424069"/>
                  </a:ext>
                </a:extLst>
              </a:tr>
            </a:tbl>
          </a:graphicData>
        </a:graphic>
      </p:graphicFrame>
      <p:pic>
        <p:nvPicPr>
          <p:cNvPr id="4" name="图片 3">
            <a:extLst>
              <a:ext uri="{FF2B5EF4-FFF2-40B4-BE49-F238E27FC236}">
                <a16:creationId xmlns:a16="http://schemas.microsoft.com/office/drawing/2014/main" id="{F03C8F95-5DE2-43B0-B453-27D6B955489E}"/>
              </a:ext>
            </a:extLst>
          </p:cNvPr>
          <p:cNvPicPr>
            <a:picLocks noChangeAspect="1"/>
          </p:cNvPicPr>
          <p:nvPr/>
        </p:nvPicPr>
        <p:blipFill>
          <a:blip r:embed="rId4"/>
          <a:stretch>
            <a:fillRect/>
          </a:stretch>
        </p:blipFill>
        <p:spPr>
          <a:xfrm>
            <a:off x="666751" y="2877331"/>
            <a:ext cx="2193934" cy="1689101"/>
          </a:xfrm>
          <a:prstGeom prst="rect">
            <a:avLst/>
          </a:prstGeom>
        </p:spPr>
      </p:pic>
      <p:pic>
        <p:nvPicPr>
          <p:cNvPr id="14" name="图片 13">
            <a:extLst>
              <a:ext uri="{FF2B5EF4-FFF2-40B4-BE49-F238E27FC236}">
                <a16:creationId xmlns:a16="http://schemas.microsoft.com/office/drawing/2014/main" id="{0EBA8A57-19F5-45D3-97F9-555E448EDA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66576" y="2877966"/>
            <a:ext cx="2039668" cy="1689100"/>
          </a:xfrm>
          <a:prstGeom prst="rect">
            <a:avLst/>
          </a:prstGeom>
        </p:spPr>
      </p:pic>
      <p:pic>
        <p:nvPicPr>
          <p:cNvPr id="18" name="图片 17">
            <a:extLst>
              <a:ext uri="{FF2B5EF4-FFF2-40B4-BE49-F238E27FC236}">
                <a16:creationId xmlns:a16="http://schemas.microsoft.com/office/drawing/2014/main" id="{5E881735-B5BF-480A-B1A9-D296067AF3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6244" y="2877966"/>
            <a:ext cx="2039668" cy="1689100"/>
          </a:xfrm>
          <a:prstGeom prst="rect">
            <a:avLst/>
          </a:prstGeom>
        </p:spPr>
      </p:pic>
      <p:pic>
        <p:nvPicPr>
          <p:cNvPr id="20" name="图片 19">
            <a:extLst>
              <a:ext uri="{FF2B5EF4-FFF2-40B4-BE49-F238E27FC236}">
                <a16:creationId xmlns:a16="http://schemas.microsoft.com/office/drawing/2014/main" id="{9358B506-A342-46C9-9783-1E6AD6316A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45912" y="2877333"/>
            <a:ext cx="2039668" cy="1689100"/>
          </a:xfrm>
          <a:prstGeom prst="rect">
            <a:avLst/>
          </a:prstGeom>
        </p:spPr>
      </p:pic>
      <p:pic>
        <p:nvPicPr>
          <p:cNvPr id="72" name="图片 71">
            <a:extLst>
              <a:ext uri="{FF2B5EF4-FFF2-40B4-BE49-F238E27FC236}">
                <a16:creationId xmlns:a16="http://schemas.microsoft.com/office/drawing/2014/main" id="{9301586D-AEA2-4366-971C-24E9E8EB26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485580" y="2877333"/>
            <a:ext cx="2039668" cy="1689100"/>
          </a:xfrm>
          <a:prstGeom prst="rect">
            <a:avLst/>
          </a:prstGeom>
        </p:spPr>
      </p:pic>
    </p:spTree>
    <p:extLst>
      <p:ext uri="{BB962C8B-B14F-4D97-AF65-F5344CB8AC3E}">
        <p14:creationId xmlns:p14="http://schemas.microsoft.com/office/powerpoint/2010/main" val="2744373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05</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应用与展望</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Applications and Future Prospects</a:t>
            </a:r>
          </a:p>
        </p:txBody>
      </p:sp>
    </p:spTree>
    <p:extLst>
      <p:ext uri="{BB962C8B-B14F-4D97-AF65-F5344CB8AC3E}">
        <p14:creationId xmlns:p14="http://schemas.microsoft.com/office/powerpoint/2010/main" val="3038340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应用与展望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Applications and Future Prospects</a:t>
            </a:r>
          </a:p>
        </p:txBody>
      </p:sp>
      <p:sp>
        <p:nvSpPr>
          <p:cNvPr id="9" name="椭圆 8">
            <a:extLst>
              <a:ext uri="{FF2B5EF4-FFF2-40B4-BE49-F238E27FC236}">
                <a16:creationId xmlns:a16="http://schemas.microsoft.com/office/drawing/2014/main" id="{6E53D553-D14A-9510-29DC-0BD871A344F7}"/>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0" name="椭圆 9">
            <a:extLst>
              <a:ext uri="{FF2B5EF4-FFF2-40B4-BE49-F238E27FC236}">
                <a16:creationId xmlns:a16="http://schemas.microsoft.com/office/drawing/2014/main" id="{2877A471-42AB-DC68-B092-54364D1165E9}"/>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1" name="椭圆 10">
            <a:extLst>
              <a:ext uri="{FF2B5EF4-FFF2-40B4-BE49-F238E27FC236}">
                <a16:creationId xmlns:a16="http://schemas.microsoft.com/office/drawing/2014/main" id="{7E09F7AF-EEF0-EBEE-ED1E-474E69E23ED3}"/>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71" name="椭圆 70">
            <a:extLst>
              <a:ext uri="{FF2B5EF4-FFF2-40B4-BE49-F238E27FC236}">
                <a16:creationId xmlns:a16="http://schemas.microsoft.com/office/drawing/2014/main" id="{6706A42F-D363-49E7-9122-D40903C02380}"/>
              </a:ext>
            </a:extLst>
          </p:cNvPr>
          <p:cNvSpPr/>
          <p:nvPr/>
        </p:nvSpPr>
        <p:spPr>
          <a:xfrm>
            <a:off x="11163299"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73" name="椭圆 72">
            <a:extLst>
              <a:ext uri="{FF2B5EF4-FFF2-40B4-BE49-F238E27FC236}">
                <a16:creationId xmlns:a16="http://schemas.microsoft.com/office/drawing/2014/main" id="{C976921C-1858-4C7D-8B24-7B2D22083528}"/>
              </a:ext>
            </a:extLst>
          </p:cNvPr>
          <p:cNvSpPr/>
          <p:nvPr/>
        </p:nvSpPr>
        <p:spPr>
          <a:xfrm>
            <a:off x="1068942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74" name="文本框 73">
            <a:extLst>
              <a:ext uri="{FF2B5EF4-FFF2-40B4-BE49-F238E27FC236}">
                <a16:creationId xmlns:a16="http://schemas.microsoft.com/office/drawing/2014/main" id="{B84F3518-686B-450D-BA66-058D40F95C21}"/>
              </a:ext>
            </a:extLst>
          </p:cNvPr>
          <p:cNvSpPr txBox="1"/>
          <p:nvPr/>
        </p:nvSpPr>
        <p:spPr>
          <a:xfrm>
            <a:off x="657450" y="3090638"/>
            <a:ext cx="1682152"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01</a:t>
            </a:r>
          </a:p>
        </p:txBody>
      </p:sp>
      <p:sp>
        <p:nvSpPr>
          <p:cNvPr id="75" name="文本框 74">
            <a:extLst>
              <a:ext uri="{FF2B5EF4-FFF2-40B4-BE49-F238E27FC236}">
                <a16:creationId xmlns:a16="http://schemas.microsoft.com/office/drawing/2014/main" id="{E7491D76-3CBA-41CD-B784-F44FB1A22179}"/>
              </a:ext>
            </a:extLst>
          </p:cNvPr>
          <p:cNvSpPr txBox="1"/>
          <p:nvPr/>
        </p:nvSpPr>
        <p:spPr>
          <a:xfrm>
            <a:off x="6299936" y="3090638"/>
            <a:ext cx="1682152"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03</a:t>
            </a:r>
          </a:p>
        </p:txBody>
      </p:sp>
      <p:sp>
        <p:nvSpPr>
          <p:cNvPr id="76" name="文本框 75">
            <a:extLst>
              <a:ext uri="{FF2B5EF4-FFF2-40B4-BE49-F238E27FC236}">
                <a16:creationId xmlns:a16="http://schemas.microsoft.com/office/drawing/2014/main" id="{D7D002F7-C369-48FB-AA21-F82E94048FBD}"/>
              </a:ext>
            </a:extLst>
          </p:cNvPr>
          <p:cNvSpPr txBox="1"/>
          <p:nvPr/>
        </p:nvSpPr>
        <p:spPr>
          <a:xfrm>
            <a:off x="3373137" y="3880639"/>
            <a:ext cx="1682152"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02</a:t>
            </a:r>
          </a:p>
        </p:txBody>
      </p:sp>
      <p:sp>
        <p:nvSpPr>
          <p:cNvPr id="77" name="文本框 76">
            <a:extLst>
              <a:ext uri="{FF2B5EF4-FFF2-40B4-BE49-F238E27FC236}">
                <a16:creationId xmlns:a16="http://schemas.microsoft.com/office/drawing/2014/main" id="{B59706BB-FC73-4BBB-BC96-ACF9C905A6B0}"/>
              </a:ext>
            </a:extLst>
          </p:cNvPr>
          <p:cNvSpPr txBox="1"/>
          <p:nvPr/>
        </p:nvSpPr>
        <p:spPr>
          <a:xfrm>
            <a:off x="9051118" y="3880638"/>
            <a:ext cx="1682152"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04</a:t>
            </a:r>
          </a:p>
        </p:txBody>
      </p:sp>
      <p:cxnSp>
        <p:nvCxnSpPr>
          <p:cNvPr id="78" name="直接连接符 77">
            <a:extLst>
              <a:ext uri="{FF2B5EF4-FFF2-40B4-BE49-F238E27FC236}">
                <a16:creationId xmlns:a16="http://schemas.microsoft.com/office/drawing/2014/main" id="{1CFBEED6-9711-4A60-8BFA-6275AF3AAF12}"/>
              </a:ext>
            </a:extLst>
          </p:cNvPr>
          <p:cNvCxnSpPr/>
          <p:nvPr/>
        </p:nvCxnSpPr>
        <p:spPr>
          <a:xfrm>
            <a:off x="3187860" y="1470158"/>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384FD83-C1AF-41E3-A46B-E984C46F60F9}"/>
              </a:ext>
            </a:extLst>
          </p:cNvPr>
          <p:cNvCxnSpPr/>
          <p:nvPr/>
        </p:nvCxnSpPr>
        <p:spPr>
          <a:xfrm>
            <a:off x="8762943" y="1470158"/>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AA78076A-D6CC-4BDF-B8A1-3AA0776FCBFD}"/>
              </a:ext>
            </a:extLst>
          </p:cNvPr>
          <p:cNvCxnSpPr>
            <a:cxnSpLocks/>
          </p:cNvCxnSpPr>
          <p:nvPr/>
        </p:nvCxnSpPr>
        <p:spPr>
          <a:xfrm flipV="1">
            <a:off x="6170699" y="3089141"/>
            <a:ext cx="0" cy="3273559"/>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7145B0D2-98F6-4A2C-AFEF-96A4D61F6257}"/>
              </a:ext>
            </a:extLst>
          </p:cNvPr>
          <p:cNvCxnSpPr>
            <a:cxnSpLocks/>
          </p:cNvCxnSpPr>
          <p:nvPr/>
        </p:nvCxnSpPr>
        <p:spPr>
          <a:xfrm>
            <a:off x="666751" y="3755108"/>
            <a:ext cx="108584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BA610DD3-3B6D-44C6-AF73-0FAD37B86AC6}"/>
              </a:ext>
            </a:extLst>
          </p:cNvPr>
          <p:cNvSpPr txBox="1"/>
          <p:nvPr/>
        </p:nvSpPr>
        <p:spPr>
          <a:xfrm>
            <a:off x="657451" y="3884916"/>
            <a:ext cx="2057174" cy="58477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推动三维成像技术的轻量化与智能化</a:t>
            </a:r>
          </a:p>
        </p:txBody>
      </p:sp>
      <p:cxnSp>
        <p:nvCxnSpPr>
          <p:cNvPr id="83" name="直接连接符 82">
            <a:extLst>
              <a:ext uri="{FF2B5EF4-FFF2-40B4-BE49-F238E27FC236}">
                <a16:creationId xmlns:a16="http://schemas.microsoft.com/office/drawing/2014/main" id="{EC335B74-29F1-4982-9142-9FD80213C279}"/>
              </a:ext>
            </a:extLst>
          </p:cNvPr>
          <p:cNvCxnSpPr>
            <a:cxnSpLocks/>
          </p:cNvCxnSpPr>
          <p:nvPr/>
        </p:nvCxnSpPr>
        <p:spPr>
          <a:xfrm>
            <a:off x="741990" y="4528579"/>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8BE19812-7BD5-49DA-B50F-3F511F2808F4}"/>
              </a:ext>
            </a:extLst>
          </p:cNvPr>
          <p:cNvSpPr txBox="1"/>
          <p:nvPr/>
        </p:nvSpPr>
        <p:spPr>
          <a:xfrm>
            <a:off x="653436" y="4541613"/>
            <a:ext cx="3823313" cy="1998689"/>
          </a:xfrm>
          <a:prstGeom prst="rect">
            <a:avLst/>
          </a:prstGeom>
          <a:noFill/>
          <a:ln>
            <a:noFill/>
          </a:ln>
        </p:spPr>
        <p:txBody>
          <a:bodyPr wrap="square" lIns="91440" tIns="45720" rIns="91440" bIns="45720" anchor="t" anchorCtr="0">
            <a:spAutoFit/>
          </a:bodyPr>
          <a:lstStyle/>
          <a:p>
            <a:pPr marL="0" marR="0" lvl="0" indent="0" algn="just" defTabSz="913765" rtl="0" eaLnBrk="1" fontAlgn="auto" latinLnBrk="0" hangingPunct="1">
              <a:lnSpc>
                <a:spcPct val="150000"/>
              </a:lnSpc>
              <a:spcBef>
                <a:spcPts val="0"/>
              </a:spcBef>
              <a:spcAft>
                <a:spcPts val="0"/>
              </a:spcAft>
              <a:buClrTx/>
              <a:buSzPct val="25000"/>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随着物联网、智能无人系统、智能手机、自动驾驶等领域的快速发展，对三维成像技术的需求日益增长。然而，现有技术往往在功耗、精度和实时性之间难以平衡，限制了其在边缘设备中的应用。本研究通过开发低功耗、高性能的三维图像处理算法，能够有效解决这一问题，推动三维成像技术的轻量化与智能化发展，为边缘设备提供更高效的三维感知能力。</a:t>
            </a:r>
          </a:p>
        </p:txBody>
      </p:sp>
      <p:sp>
        <p:nvSpPr>
          <p:cNvPr id="85" name="文本框 84">
            <a:extLst>
              <a:ext uri="{FF2B5EF4-FFF2-40B4-BE49-F238E27FC236}">
                <a16:creationId xmlns:a16="http://schemas.microsoft.com/office/drawing/2014/main" id="{AC2002BC-FB8A-4C65-B835-5AAF85780091}"/>
              </a:ext>
            </a:extLst>
          </p:cNvPr>
          <p:cNvSpPr txBox="1"/>
          <p:nvPr/>
        </p:nvSpPr>
        <p:spPr>
          <a:xfrm>
            <a:off x="3428254" y="1470158"/>
            <a:ext cx="3490035" cy="338554"/>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满足边缘设备的实时性与低功耗需求</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cxnSp>
        <p:nvCxnSpPr>
          <p:cNvPr id="86" name="直接连接符 85">
            <a:extLst>
              <a:ext uri="{FF2B5EF4-FFF2-40B4-BE49-F238E27FC236}">
                <a16:creationId xmlns:a16="http://schemas.microsoft.com/office/drawing/2014/main" id="{30BADA2D-D781-4ACD-A951-E590C10279AD}"/>
              </a:ext>
            </a:extLst>
          </p:cNvPr>
          <p:cNvCxnSpPr>
            <a:cxnSpLocks/>
          </p:cNvCxnSpPr>
          <p:nvPr/>
        </p:nvCxnSpPr>
        <p:spPr>
          <a:xfrm>
            <a:off x="3456879" y="1935459"/>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69AD8DC6-9C60-47A4-A050-399D48C0808F}"/>
              </a:ext>
            </a:extLst>
          </p:cNvPr>
          <p:cNvSpPr txBox="1"/>
          <p:nvPr/>
        </p:nvSpPr>
        <p:spPr>
          <a:xfrm>
            <a:off x="3372340" y="1944407"/>
            <a:ext cx="2628298" cy="1721690"/>
          </a:xfrm>
          <a:prstGeom prst="rect">
            <a:avLst/>
          </a:prstGeom>
          <a:noFill/>
          <a:ln>
            <a:noFill/>
          </a:ln>
        </p:spPr>
        <p:txBody>
          <a:bodyPr wrap="square" lIns="91440" tIns="45720" rIns="91440" bIns="45720" anchor="t" anchorCtr="0">
            <a:spAutoFit/>
          </a:bodyPr>
          <a:lstStyle/>
          <a:p>
            <a:pPr marL="0" marR="0" lvl="0" indent="0" algn="just" defTabSz="913765" rtl="0" eaLnBrk="1" fontAlgn="auto" latinLnBrk="0" hangingPunct="1">
              <a:lnSpc>
                <a:spcPct val="150000"/>
              </a:lnSpc>
              <a:spcBef>
                <a:spcPts val="0"/>
              </a:spcBef>
              <a:spcAft>
                <a:spcPts val="0"/>
              </a:spcAft>
              <a:buClrTx/>
              <a:buSzPct val="25000"/>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本研究通过优化算法复杂度、设计轻量级模型结构，能够在保证精度的同时显著降低计算和存储需求，使三维成像技术能够在边缘设备上实现实时处理，满足低功耗需求，为智能设备的广泛应用提供技术支持。</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8" name="文本框 87">
            <a:extLst>
              <a:ext uri="{FF2B5EF4-FFF2-40B4-BE49-F238E27FC236}">
                <a16:creationId xmlns:a16="http://schemas.microsoft.com/office/drawing/2014/main" id="{24A1486C-1258-46D6-869F-8B2E2332DEE9}"/>
              </a:ext>
            </a:extLst>
          </p:cNvPr>
          <p:cNvSpPr txBox="1"/>
          <p:nvPr/>
        </p:nvSpPr>
        <p:spPr>
          <a:xfrm>
            <a:off x="6327557" y="4060291"/>
            <a:ext cx="2940264" cy="338554"/>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促进“感算一体”发展</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cxnSp>
        <p:nvCxnSpPr>
          <p:cNvPr id="89" name="直接连接符 88">
            <a:extLst>
              <a:ext uri="{FF2B5EF4-FFF2-40B4-BE49-F238E27FC236}">
                <a16:creationId xmlns:a16="http://schemas.microsoft.com/office/drawing/2014/main" id="{D4FC0C68-5462-434C-A86B-496FCBED9E38}"/>
              </a:ext>
            </a:extLst>
          </p:cNvPr>
          <p:cNvCxnSpPr>
            <a:cxnSpLocks/>
          </p:cNvCxnSpPr>
          <p:nvPr/>
        </p:nvCxnSpPr>
        <p:spPr>
          <a:xfrm>
            <a:off x="6412097" y="4475551"/>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文本框 89">
            <a:extLst>
              <a:ext uri="{FF2B5EF4-FFF2-40B4-BE49-F238E27FC236}">
                <a16:creationId xmlns:a16="http://schemas.microsoft.com/office/drawing/2014/main" id="{99B9FA03-AC73-4FD5-A149-42DCA15E9081}"/>
              </a:ext>
            </a:extLst>
          </p:cNvPr>
          <p:cNvSpPr txBox="1"/>
          <p:nvPr/>
        </p:nvSpPr>
        <p:spPr>
          <a:xfrm>
            <a:off x="6327557" y="4488585"/>
            <a:ext cx="2940262" cy="1998689"/>
          </a:xfrm>
          <a:prstGeom prst="rect">
            <a:avLst/>
          </a:prstGeom>
          <a:noFill/>
          <a:ln>
            <a:noFill/>
          </a:ln>
        </p:spPr>
        <p:txBody>
          <a:bodyPr wrap="square" lIns="91440" tIns="45720" rIns="91440" bIns="45720" anchor="t" anchorCtr="0">
            <a:spAutoFit/>
          </a:bodyPr>
          <a:lstStyle/>
          <a:p>
            <a:pPr marL="0" marR="0" lvl="0" indent="0" algn="just" defTabSz="913765" rtl="0" eaLnBrk="1" fontAlgn="auto" latinLnBrk="0" hangingPunct="1">
              <a:lnSpc>
                <a:spcPct val="150000"/>
              </a:lnSpc>
              <a:spcBef>
                <a:spcPts val="0"/>
              </a:spcBef>
              <a:spcAft>
                <a:spcPts val="0"/>
              </a:spcAft>
              <a:buClrTx/>
              <a:buSzPct val="25000"/>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感算一体”是未来智能传感器发展的重要方向，其核心在于将感知与计算紧密结合，实现高效的数据处理。本研究通过设计适用于边缘设备的三维图像处理算法，为“感算一体”三维图像传感器的实现提供了可行的解决方案，有助于推动传感器技术的集成化与智能化发展。</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 name="文本框 90">
            <a:extLst>
              <a:ext uri="{FF2B5EF4-FFF2-40B4-BE49-F238E27FC236}">
                <a16:creationId xmlns:a16="http://schemas.microsoft.com/office/drawing/2014/main" id="{5B203A0E-0C4D-4E93-8C7F-6BCBD8E4786A}"/>
              </a:ext>
            </a:extLst>
          </p:cNvPr>
          <p:cNvSpPr txBox="1"/>
          <p:nvPr/>
        </p:nvSpPr>
        <p:spPr>
          <a:xfrm>
            <a:off x="8962218" y="1475923"/>
            <a:ext cx="2655843" cy="338554"/>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拓展三维成像技术应用场景</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cxnSp>
        <p:nvCxnSpPr>
          <p:cNvPr id="92" name="直接连接符 91">
            <a:extLst>
              <a:ext uri="{FF2B5EF4-FFF2-40B4-BE49-F238E27FC236}">
                <a16:creationId xmlns:a16="http://schemas.microsoft.com/office/drawing/2014/main" id="{BD76C8E8-65CB-4334-A656-1EA533C50E00}"/>
              </a:ext>
            </a:extLst>
          </p:cNvPr>
          <p:cNvCxnSpPr>
            <a:cxnSpLocks/>
          </p:cNvCxnSpPr>
          <p:nvPr/>
        </p:nvCxnSpPr>
        <p:spPr>
          <a:xfrm>
            <a:off x="9046758" y="1935459"/>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文本框 92">
            <a:extLst>
              <a:ext uri="{FF2B5EF4-FFF2-40B4-BE49-F238E27FC236}">
                <a16:creationId xmlns:a16="http://schemas.microsoft.com/office/drawing/2014/main" id="{5CED52BF-AB67-4784-9FE1-BE0E3D2872F1}"/>
              </a:ext>
            </a:extLst>
          </p:cNvPr>
          <p:cNvSpPr txBox="1"/>
          <p:nvPr/>
        </p:nvSpPr>
        <p:spPr>
          <a:xfrm>
            <a:off x="8962218" y="1944407"/>
            <a:ext cx="2655839" cy="1444691"/>
          </a:xfrm>
          <a:prstGeom prst="rect">
            <a:avLst/>
          </a:prstGeom>
          <a:noFill/>
          <a:ln>
            <a:noFill/>
          </a:ln>
        </p:spPr>
        <p:txBody>
          <a:bodyPr wrap="square" lIns="91440" tIns="45720" rIns="91440" bIns="45720" anchor="t" anchorCtr="0">
            <a:spAutoFit/>
          </a:bodyPr>
          <a:lstStyle/>
          <a:p>
            <a:pPr marL="0" marR="0" lvl="0" indent="0" algn="just" defTabSz="913765" rtl="0" eaLnBrk="1" fontAlgn="auto" latinLnBrk="0" hangingPunct="1">
              <a:lnSpc>
                <a:spcPct val="150000"/>
              </a:lnSpc>
              <a:spcBef>
                <a:spcPts val="0"/>
              </a:spcBef>
              <a:spcAft>
                <a:spcPts val="0"/>
              </a:spcAft>
              <a:buClrTx/>
              <a:buSzPct val="25000"/>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通过提升</a:t>
            </a:r>
            <a:r>
              <a:rPr kumimoji="0" lang="en-US" altLang="zh-CN" sz="12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ToF</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传感器的成像质量和算法效率，本研究能够拓展三维成像技术在机器人、自动驾驶、增强现实（</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AR</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）、虚拟现实（</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VR</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）、智能安防等领域的应用。</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906991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参考文献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References</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7" name="文本框 6">
            <a:extLst>
              <a:ext uri="{FF2B5EF4-FFF2-40B4-BE49-F238E27FC236}">
                <a16:creationId xmlns:a16="http://schemas.microsoft.com/office/drawing/2014/main" id="{630A6DDA-4EB6-6A77-248B-B571C28A4DE1}"/>
              </a:ext>
            </a:extLst>
          </p:cNvPr>
          <p:cNvSpPr txBox="1"/>
          <p:nvPr/>
        </p:nvSpPr>
        <p:spPr>
          <a:xfrm>
            <a:off x="666751" y="1159120"/>
            <a:ext cx="10858498" cy="561179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Lingzhu</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Xiang , et.al. libfreenect2: release 0.2.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Zenodo</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 2016.</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 Frank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Lenzen</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 Kwang In Kim , Henrik Schäfer , Rahul Nair , Stephan Meister, Florian Becker, Christoph S.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Garbe</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and Christian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Theobalt</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Denoising strategies for Time-of-Flight data. In Time-of-Flight and Depth Imaging. Sensors, Algorithms, and Applications, pp. 25-45. 2013.</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 Mario Frank, Matthias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Plaue</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Holger Rapp, Ullrich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Köthe</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Bernd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Jähne</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and Fred A.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Hamprecht</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Theoretical and experimental error analysis of continuous-wave time-of-flight range cameras. Optical Engineering 48, no. 1: 013602. 2009.</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[4] Malcolm Reynolds,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Jozef</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Doboš</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Leto Peel, Tim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Weyrich</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and Gabriel J.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Brostow</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Capturing Time-of-Flight data with confidence. In Proceedings of the IEEE Conference on Computer Vision and Pattern Recognition, pp. 945-952. 2011.</a:t>
            </a:r>
          </a:p>
          <a:p>
            <a:pPr algn="just">
              <a:spcBef>
                <a:spcPts val="200"/>
              </a:spcBef>
              <a:spcAft>
                <a:spcPts val="200"/>
              </a:spcAf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 M.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Georgiev</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R.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Bregovi</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́c, and A.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Gotchev</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“Time-of-flight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rangemeasurement</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in low-sensing environment: Noise analysis and complex-domain non-local denoising,” IEEE Transactions on Image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Processing,vol</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27, no. 6, pp. 2911–2926, 2018.</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[6]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Shuochen</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Su, Felix Heide, Gordon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Wetzstein</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and Wolfgang Heidrich. Deep end-to-end Time-of-Flight imaging. In Proceedings of the IEEE Conference on Computer Vision and Pattern Recognition, pp. 6383-6392. 2018.</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 Qi Guo,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Iuri</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Frosio</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Orazio</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Gallo, Todd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Zickler</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and Jan Kautz. Tackling 3D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ToF</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artifacts through learning and the FLAT dataset. In Proceedings of the European Conference on Computer Vision (ECCV), pp. 368-383. 2018.</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[8]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Guanting</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Dong,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Yueyi</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Zhang, and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Zhiwei</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Xiong. Spatial hierarchy aware residual pyramid network for Time-of-Flight depth denoising. In European Conference on Computer Vision, pp. 35-50. 2020.</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[9]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Zhuolin</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Zheng,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Yinzhang</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Ding,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Xiaotian</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Tang, Yu Cai,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Dongxiao</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Li, Ming Zhang,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Hongyang</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Xie, and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Xuanfu</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Li. Iterative error removal for Time-of-Flight depth imaging. In International Conference on Artificial Neural Networks, pp. 92-105. 2021.</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[10]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Rongrong</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Gao, Na Fan,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Changlin</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Li,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Wentao</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Liu, and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Qifeng</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Chen. Joint depth and normal estimation from real-world Time-of-Flight raw data. In 2021 IEEE/RSJ International Conference on Intelligent Robots and Systems (IROS), pp. 71-78, 2021.</a:t>
            </a:r>
          </a:p>
          <a:p>
            <a:pPr marL="0" marR="0" lvl="0" indent="0" algn="just" defTabSz="914400" rtl="0" eaLnBrk="1" fontAlgn="auto" latinLnBrk="0" hangingPunct="1">
              <a:lnSpc>
                <a:spcPct val="100000"/>
              </a:lnSpc>
              <a:spcBef>
                <a:spcPts val="200"/>
              </a:spcBef>
              <a:spcAft>
                <a:spcPts val="20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[11] Gianluca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Agresti</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Henrik Schafer,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Piergiorgio</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Sartor, Yalcin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Incesu</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and Pietro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Zanuttigh</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Unsupervised domain adaptation of deep networks for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ToF</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Depth refinement. IEEE Transactions on Pattern Analysis and Machine Intelligence, 2021.</a:t>
            </a:r>
          </a:p>
          <a:p>
            <a:pPr algn="just">
              <a:spcBef>
                <a:spcPts val="200"/>
              </a:spcBef>
              <a:spcAft>
                <a:spcPts val="200"/>
              </a:spcAf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[12] Wang, Y., Li, B., Zhang, G., Liu, Q., Gao, T., &amp; Dai, Y. (2023). </a:t>
            </a:r>
            <a:r>
              <a:rPr kumimoji="0" lang="en-US" altLang="zh-CN" sz="14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Lrru</a:t>
            </a: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Long-short range recurrent updating networks for depth completion. In Proceedings of the IEEE/CVF international conference on computer vision (pp. 9422-9432).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DD44860F-8869-59C3-039B-5F1767B48E42}"/>
              </a:ext>
            </a:extLst>
          </p:cNvPr>
          <p:cNvSpPr txBox="1">
            <a:spLocks/>
          </p:cNvSpPr>
          <p:nvPr/>
        </p:nvSpPr>
        <p:spPr>
          <a:xfrm>
            <a:off x="2171885" y="5863985"/>
            <a:ext cx="4917100" cy="7246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项目成员：林继申、刘垚、刘淑仪、梁斯凯、杨宇琨</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指导教师：曾进</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
        <p:nvSpPr>
          <p:cNvPr id="9" name="标题 1">
            <a:extLst>
              <a:ext uri="{FF2B5EF4-FFF2-40B4-BE49-F238E27FC236}">
                <a16:creationId xmlns:a16="http://schemas.microsoft.com/office/drawing/2014/main" id="{964C7AAB-5F8B-F356-A714-5ACDCEE7330E}"/>
              </a:ext>
            </a:extLst>
          </p:cNvPr>
          <p:cNvSpPr txBox="1">
            <a:spLocks/>
          </p:cNvSpPr>
          <p:nvPr/>
        </p:nvSpPr>
        <p:spPr>
          <a:xfrm>
            <a:off x="1512892" y="2171705"/>
            <a:ext cx="6651911" cy="9711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感谢垂听，恳请指正！</a:t>
            </a:r>
            <a:endParaRPr kumimoji="0" lang="en-US" altLang="zh-CN" sz="48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
        <p:nvSpPr>
          <p:cNvPr id="4" name="标题 1">
            <a:extLst>
              <a:ext uri="{FF2B5EF4-FFF2-40B4-BE49-F238E27FC236}">
                <a16:creationId xmlns:a16="http://schemas.microsoft.com/office/drawing/2014/main" id="{F5D9D7D5-F68F-D1E9-9041-C9AE63E711B8}"/>
              </a:ext>
            </a:extLst>
          </p:cNvPr>
          <p:cNvSpPr>
            <a:spLocks noGrp="1"/>
          </p:cNvSpPr>
          <p:nvPr>
            <p:ph type="ctrTitle"/>
          </p:nvPr>
        </p:nvSpPr>
        <p:spPr>
          <a:xfrm>
            <a:off x="714666" y="3585863"/>
            <a:ext cx="9195952" cy="1204637"/>
          </a:xfrm>
        </p:spPr>
        <p:txBody>
          <a:bodyPr>
            <a:noAutofit/>
          </a:bodyPr>
          <a:lstStyle/>
          <a:p>
            <a:pPr algn="ctr">
              <a:lnSpc>
                <a:spcPct val="150000"/>
              </a:lnSpc>
            </a:pPr>
            <a:r>
              <a:rPr lang="zh-CN" altLang="en-US" sz="3200" b="1" dirty="0">
                <a:effectLst/>
                <a:latin typeface="+mj-lt"/>
                <a:ea typeface="微软雅黑" panose="020B0503020204020204" pitchFamily="34" charset="-122"/>
              </a:rPr>
              <a:t>三维图像传感器信号增强网络的轻量化方法</a:t>
            </a:r>
            <a:br>
              <a:rPr lang="en-US" altLang="zh-CN" sz="1800" b="1" dirty="0">
                <a:effectLst/>
                <a:latin typeface="+mj-lt"/>
                <a:ea typeface="微软雅黑" panose="020B0503020204020204" pitchFamily="34" charset="-122"/>
              </a:rPr>
            </a:br>
            <a:r>
              <a:rPr lang="en-US" altLang="zh-CN" sz="1800" b="1" dirty="0">
                <a:effectLst/>
                <a:latin typeface="+mj-lt"/>
                <a:ea typeface="微软雅黑" panose="020B0503020204020204" pitchFamily="34" charset="-122"/>
              </a:rPr>
              <a:t>Lightweight Network for 3D Image Sensor Signal Enhancement</a:t>
            </a:r>
          </a:p>
        </p:txBody>
      </p:sp>
      <p:sp>
        <p:nvSpPr>
          <p:cNvPr id="6" name="标题 1">
            <a:extLst>
              <a:ext uri="{FF2B5EF4-FFF2-40B4-BE49-F238E27FC236}">
                <a16:creationId xmlns:a16="http://schemas.microsoft.com/office/drawing/2014/main" id="{5528B97B-2F99-4C46-91B9-BC13029044F7}"/>
              </a:ext>
            </a:extLst>
          </p:cNvPr>
          <p:cNvSpPr txBox="1">
            <a:spLocks/>
          </p:cNvSpPr>
          <p:nvPr/>
        </p:nvSpPr>
        <p:spPr>
          <a:xfrm>
            <a:off x="8409905" y="5825407"/>
            <a:ext cx="3153446" cy="7631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同济大学</a:t>
            </a:r>
            <a:r>
              <a:rPr lang="zh-CN" altLang="en-US" sz="1600" dirty="0">
                <a:solidFill>
                  <a:prstClr val="black"/>
                </a:solidFill>
                <a:latin typeface="微软雅黑"/>
                <a:ea typeface="微软雅黑" panose="020B0503020204020204" pitchFamily="34" charset="-122"/>
              </a:rPr>
              <a:t>计算机科学与技术学院</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2025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年</a:t>
            </a: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 3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月 </a:t>
            </a:r>
            <a:r>
              <a:rPr lang="en-US" altLang="zh-CN" sz="1600" dirty="0">
                <a:solidFill>
                  <a:prstClr val="black"/>
                </a:solidFill>
                <a:latin typeface="微软雅黑"/>
                <a:ea typeface="微软雅黑" panose="020B0503020204020204" pitchFamily="34" charset="-122"/>
              </a:rPr>
              <a:t>25</a:t>
            </a: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日</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309*87"/>
  <p:tag name="TABLE_ENDDRAG_RECT" val="577*15*309*87"/>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2371</Words>
  <Application>Microsoft Office PowerPoint</Application>
  <PresentationFormat>宽屏</PresentationFormat>
  <Paragraphs>151</Paragraphs>
  <Slides>16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16</vt:i4>
      </vt:variant>
    </vt:vector>
  </HeadingPairs>
  <TitlesOfParts>
    <vt:vector size="21" baseType="lpstr">
      <vt:lpstr>Arial</vt:lpstr>
      <vt:lpstr>Times New Roman</vt:lpstr>
      <vt:lpstr>微软雅黑</vt:lpstr>
      <vt:lpstr>等线</vt:lpstr>
      <vt:lpstr>1_Office 主题​​</vt:lpstr>
      <vt:lpstr>三维图像传感器信号增强网络的轻量化方法 Lightweight Network for 3D Image Sensor Signal Enhancement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三维图像传感器信号增强网络的轻量化方法 Lightweight Network for 3D Image Sensor Signal Enhancement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三维图像传感器信号增强网络的轻量化方法 Lightweight Method for 3D Image Sensor Signal Enhancement Network</dc:title>
  <dc:creator>Minmus Lin</dc:creator>
  <cp:lastModifiedBy>Lin Minmus</cp:lastModifiedBy>
  <cp:revision>19</cp:revision>
  <dcterms:created xsi:type="dcterms:W3CDTF">2024-04-26T08:38:38Z</dcterms:created>
  <dcterms:modified xsi:type="dcterms:W3CDTF">2025-03-21T08:21:04Z</dcterms:modified>
</cp:coreProperties>
</file>